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1c01c8d104c4e86" /><Relationship Type="http://schemas.openxmlformats.org/officeDocument/2006/relationships/extended-properties" Target="/docProps/app.xml" Id="R55d960092a90446c" /><Relationship Type="http://schemas.openxmlformats.org/officeDocument/2006/relationships/officeDocument" Target="/ppt/presentation.xml" Id="R4b2817c8d437478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ecec6f1b89b4a4f"/>
  </p:sldMasterIdLst>
  <p:notesMasterIdLst>
    <p:notesMasterId xmlns:r="http://schemas.openxmlformats.org/officeDocument/2006/relationships" r:id="R921522cdd1924430"/>
  </p:notesMasterIdLst>
  <p:sldIdLst>
    <p:sldId xmlns:r="http://schemas.openxmlformats.org/officeDocument/2006/relationships" id="256" r:id="R332c9365c87949fa"/>
    <p:sldId xmlns:r="http://schemas.openxmlformats.org/officeDocument/2006/relationships" id="257" r:id="R9154c267a88a4558"/>
    <p:sldId xmlns:r="http://schemas.openxmlformats.org/officeDocument/2006/relationships" id="258" r:id="R80246b8303804c1c"/>
    <p:sldId xmlns:r="http://schemas.openxmlformats.org/officeDocument/2006/relationships" id="259" r:id="R11b67f551a894847"/>
    <p:sldId xmlns:r="http://schemas.openxmlformats.org/officeDocument/2006/relationships" id="260" r:id="R9fff0072ea2048c0"/>
    <p:sldId xmlns:r="http://schemas.openxmlformats.org/officeDocument/2006/relationships" id="261" r:id="Re874b8509d634a6c"/>
    <p:sldId xmlns:r="http://schemas.openxmlformats.org/officeDocument/2006/relationships" id="262" r:id="Rce92b0d3d746411d"/>
    <p:sldId xmlns:r="http://schemas.openxmlformats.org/officeDocument/2006/relationships" id="263" r:id="R053dcfd0d28d4003"/>
    <p:sldId xmlns:r="http://schemas.openxmlformats.org/officeDocument/2006/relationships" id="264" r:id="Ra73d97a9fb9a4e1f"/>
    <p:sldId xmlns:r="http://schemas.openxmlformats.org/officeDocument/2006/relationships" id="265" r:id="Ra1d72600e7554d67"/>
    <p:sldId xmlns:r="http://schemas.openxmlformats.org/officeDocument/2006/relationships" id="266" r:id="Rb4a9cdf384e84843"/>
    <p:sldId xmlns:r="http://schemas.openxmlformats.org/officeDocument/2006/relationships" id="267" r:id="R0fa4a685997f423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2db434f71c94131" /><Relationship Type="http://schemas.openxmlformats.org/officeDocument/2006/relationships/slideMaster" Target="/ppt/slideMasters/slideMaster1.xml" Id="R4ecec6f1b89b4a4f" /><Relationship Type="http://schemas.openxmlformats.org/officeDocument/2006/relationships/notesMaster" Target="/ppt/notesMasters/notesMaster1.xml" Id="R921522cdd1924430" /><Relationship Type="http://schemas.openxmlformats.org/officeDocument/2006/relationships/presProps" Target="/ppt/presProps.xml" Id="Re4e5072c42b445a1" /><Relationship Type="http://schemas.openxmlformats.org/officeDocument/2006/relationships/tableStyles" Target="/ppt/tableStyles.xml" Id="R2edc1bd3e1724c60" /><Relationship Type="http://schemas.openxmlformats.org/officeDocument/2006/relationships/slide" Target="/ppt/slides/slide1.xml" Id="R332c9365c87949fa" /><Relationship Type="http://schemas.openxmlformats.org/officeDocument/2006/relationships/slide" Target="/ppt/slides/slide2.xml" Id="R9154c267a88a4558" /><Relationship Type="http://schemas.openxmlformats.org/officeDocument/2006/relationships/slide" Target="/ppt/slides/slide3.xml" Id="R80246b8303804c1c" /><Relationship Type="http://schemas.openxmlformats.org/officeDocument/2006/relationships/slide" Target="/ppt/slides/slide4.xml" Id="R11b67f551a894847" /><Relationship Type="http://schemas.openxmlformats.org/officeDocument/2006/relationships/slide" Target="/ppt/slides/slide5.xml" Id="R9fff0072ea2048c0" /><Relationship Type="http://schemas.openxmlformats.org/officeDocument/2006/relationships/slide" Target="/ppt/slides/slide6.xml" Id="Re874b8509d634a6c" /><Relationship Type="http://schemas.openxmlformats.org/officeDocument/2006/relationships/slide" Target="/ppt/slides/slide7.xml" Id="Rce92b0d3d746411d" /><Relationship Type="http://schemas.openxmlformats.org/officeDocument/2006/relationships/slide" Target="/ppt/slides/slide8.xml" Id="R053dcfd0d28d4003" /><Relationship Type="http://schemas.openxmlformats.org/officeDocument/2006/relationships/slide" Target="/ppt/slides/slide9.xml" Id="Ra73d97a9fb9a4e1f" /><Relationship Type="http://schemas.openxmlformats.org/officeDocument/2006/relationships/slide" Target="/ppt/slides/slide10.xml" Id="Ra1d72600e7554d67" /><Relationship Type="http://schemas.openxmlformats.org/officeDocument/2006/relationships/slide" Target="/ppt/slides/slide11.xml" Id="Rb4a9cdf384e84843" /><Relationship Type="http://schemas.openxmlformats.org/officeDocument/2006/relationships/slide" Target="/ppt/slides/slide12.xml" Id="R0fa4a685997f423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a557ea4dc14494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d49f093d7804189" /><Relationship Type="http://schemas.openxmlformats.org/officeDocument/2006/relationships/notesMaster" Target="/ppt/notesMasters/notesMaster1.xml" Id="R4ca1267eb36148f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b6c9c9da7b74d92" /><Relationship Type="http://schemas.openxmlformats.org/officeDocument/2006/relationships/notesMaster" Target="/ppt/notesMasters/notesMaster1.xml" Id="R3ba115d4f1c4452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6855adde4a149ca" /><Relationship Type="http://schemas.openxmlformats.org/officeDocument/2006/relationships/notesMaster" Target="/ppt/notesMasters/notesMaster1.xml" Id="R218bcd781d61424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80396045efa4bd8" /><Relationship Type="http://schemas.openxmlformats.org/officeDocument/2006/relationships/notesMaster" Target="/ppt/notesMasters/notesMaster1.xml" Id="Re9cbd090d73e41b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36b104da7224ae2" /><Relationship Type="http://schemas.openxmlformats.org/officeDocument/2006/relationships/notesMaster" Target="/ppt/notesMasters/notesMaster1.xml" Id="R980944c7a17944e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5bd5eccfaae45a7" /><Relationship Type="http://schemas.openxmlformats.org/officeDocument/2006/relationships/notesMaster" Target="/ppt/notesMasters/notesMaster1.xml" Id="Raf7ee50d45984af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e2fd1fee0754231" /><Relationship Type="http://schemas.openxmlformats.org/officeDocument/2006/relationships/notesMaster" Target="/ppt/notesMasters/notesMaster1.xml" Id="Rd41cdf424972409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a985e103cc34413" /><Relationship Type="http://schemas.openxmlformats.org/officeDocument/2006/relationships/notesMaster" Target="/ppt/notesMasters/notesMaster1.xml" Id="R9bb769420e4d46b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260551bdd514d69" /><Relationship Type="http://schemas.openxmlformats.org/officeDocument/2006/relationships/notesMaster" Target="/ppt/notesMasters/notesMaster1.xml" Id="R1479e961c39c45e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990134749184d3e" /><Relationship Type="http://schemas.openxmlformats.org/officeDocument/2006/relationships/notesMaster" Target="/ppt/notesMasters/notesMaster1.xml" Id="R4b95f9b2c0ca42f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fa7bf9a6a074ac2" /><Relationship Type="http://schemas.openxmlformats.org/officeDocument/2006/relationships/notesMaster" Target="/ppt/notesMasters/notesMaster1.xml" Id="R3afd958988624f7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4fd01292e17415d" /><Relationship Type="http://schemas.openxmlformats.org/officeDocument/2006/relationships/notesMaster" Target="/ppt/notesMasters/notesMaster1.xml" Id="Rc9e6dad6fdc540e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[Tiempo: 5 min]</a:t>
            </a:r>
          </a:p>
          <a:p xmlns:a="http://schemas.openxmlformats.org/drawingml/2006/main">
            <a:r>
              <a:t>Recupere PVRD. Pregunta de entrada: ¿qué hace que una fuente sea suficiente para respaldar una frase concreta?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[Tiempo: 5 min]</a:t>
            </a:r>
          </a:p>
          <a:p xmlns:a="http://schemas.openxmlformats.org/drawingml/2006/main">
            <a:r>
              <a:t>Muestre templates/source_matrix.csv y el criterio de evaluación de instructor/rubric.md.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[Tiempo: 10 min]</a:t>
            </a:r>
          </a:p>
          <a:p xmlns:a="http://schemas.openxmlformats.org/drawingml/2006/main">
            <a:r>
              <a:t>Cada estudiante transforma un tema propio. Use términos observables y evite prometer causalidad cuando solo se busca descripción.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[Tiempo: 8 min]</a:t>
            </a:r>
          </a:p>
          <a:p xmlns:a="http://schemas.openxmlformats.org/drawingml/2006/main">
            <a:r>
              <a:t>La IA puede sugerir sinónimos; no debe inventar el conjunto final de artículos. Fuente de principios de uso responsable: UNESCO, https://unesdoc.unesco.org/ark:/48223/pf0000386693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[Tiempo: 8 min]</a:t>
            </a:r>
          </a:p>
          <a:p xmlns:a="http://schemas.openxmlformats.org/drawingml/2006/main">
            <a:r>
              <a:t>Aclare que una fuente ‘de nivel alto’ puede no ser pertinente. DOI Foundation: https://www.doi.org/ ; Crossref REST API: https://www.crossref.org/documentation/retrieve-metadata/rest-api/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[Tiempo: 10 min]</a:t>
            </a:r>
          </a:p>
          <a:p xmlns:a="http://schemas.openxmlformats.org/drawingml/2006/main">
            <a:r>
              <a:t>Demuéstrelo con DOI 10.1016/j.arcontrol.2004.12.002. Un DOI válido solo confirma identidad persistente; el respaldo exige leer el contenido pertinente.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[Tiempo: 30 min]</a:t>
            </a:r>
          </a:p>
          <a:p xmlns:a="http://schemas.openxmlformats.org/drawingml/2006/main">
            <a:r>
              <a:t>Use activities/module_2_source_verification.md y source_packet.md. Solución orientativa en instructor/module_2_solution.md.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[Tiempo: 15 min]</a:t>
            </a:r>
          </a:p>
          <a:p xmlns:a="http://schemas.openxmlformats.org/drawingml/2006/main">
            <a:r>
              <a:t>Cada pareja redacta tres frases: convergencia, diferencia y vacío. Prohíba ‘los estudios demuestran’ sin sujeto, contexto y referencia.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[Tiempo: 8 min]</a:t>
            </a:r>
          </a:p>
          <a:p xmlns:a="http://schemas.openxmlformats.org/drawingml/2006/main">
            <a:r>
              <a:t>Ejercicio oral: transformar ‘proves’ en ‘reports under…’. Fuente educativa general: Kasneci et al., DOI 10.1016/j.lindif.2023.102274.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[Tiempo: 7 min]</a:t>
            </a:r>
          </a:p>
          <a:p xmlns:a="http://schemas.openxmlformats.org/drawingml/2006/main">
            <a:r>
              <a:t>Pida al grupo una versión corregida de cada trampa. NIST AI 600-1 recomienda verificar citas y fuentes y documentar límites.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[Tiempo: 7 min]</a:t>
            </a:r>
          </a:p>
          <a:p xmlns:a="http://schemas.openxmlformats.org/drawingml/2006/main">
            <a:r>
              <a:t>Intercambio de matrices. Cada revisor deja una pregunta y una mejora concreta; no reescribe toda la fila.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[Tiempo: 7 min]</a:t>
            </a:r>
          </a:p>
          <a:p xmlns:a="http://schemas.openxmlformats.org/drawingml/2006/main">
            <a:r>
              <a:t>Recoja la fila corregida. Anticipe el módulo 3: las mismas reglas se aplican a datos, métricas y código.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a5808ce17c418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54efb72ad13430d" /><Relationship Type="http://schemas.openxmlformats.org/officeDocument/2006/relationships/slideLayout" Target="/ppt/slideLayouts/slideLayout1.xml" Id="R82ce0679e3d24fc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2ce0679e3d24fc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c0996a412d4c82" /><Relationship Type="http://schemas.openxmlformats.org/officeDocument/2006/relationships/notesSlide" Target="/ppt/notesSlides/notesSlide1.xml" Id="R856cec48354a41b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4cd00a5781466d" /><Relationship Type="http://schemas.openxmlformats.org/officeDocument/2006/relationships/notesSlide" Target="/ppt/notesSlides/notesSlide2.xml" Id="Rfeb933aa9f67454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ec6a323e9a4cca" /><Relationship Type="http://schemas.openxmlformats.org/officeDocument/2006/relationships/notesSlide" Target="/ppt/notesSlides/notesSlide3.xml" Id="Rcbbed889e30f4b9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9d10b46bfa4ae2" /><Relationship Type="http://schemas.openxmlformats.org/officeDocument/2006/relationships/notesSlide" Target="/ppt/notesSlides/notesSlide4.xml" Id="Rab4f2742fcd844a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c9dbf3137d405c" /><Relationship Type="http://schemas.openxmlformats.org/officeDocument/2006/relationships/notesSlide" Target="/ppt/notesSlides/notesSlide5.xml" Id="Rb2aec8049f5c416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657be33fdf4e86" /><Relationship Type="http://schemas.openxmlformats.org/officeDocument/2006/relationships/notesSlide" Target="/ppt/notesSlides/notesSlide6.xml" Id="Rbea0eb8464d741f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ba9043244841cb" /><Relationship Type="http://schemas.openxmlformats.org/officeDocument/2006/relationships/notesSlide" Target="/ppt/notesSlides/notesSlide7.xml" Id="Rdac755bf72d24e0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d8774ee85b4a6e" /><Relationship Type="http://schemas.openxmlformats.org/officeDocument/2006/relationships/notesSlide" Target="/ppt/notesSlides/notesSlide8.xml" Id="R11bbfbf5c6704db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05e33e327f4cae" /><Relationship Type="http://schemas.openxmlformats.org/officeDocument/2006/relationships/notesSlide" Target="/ppt/notesSlides/notesSlide9.xml" Id="Rd314472ed2f542b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df204dc8414829" /><Relationship Type="http://schemas.openxmlformats.org/officeDocument/2006/relationships/notesSlide" Target="/ppt/notesSlides/notesSlide10.xml" Id="R329341cab723479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1c77b29afe4e15" /><Relationship Type="http://schemas.openxmlformats.org/officeDocument/2006/relationships/notesSlide" Target="/ppt/notesSlides/notesSlide11.xml" Id="R1d323b7c431f403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d1c8a4a4374cca" /><Relationship Type="http://schemas.openxmlformats.org/officeDocument/2006/relationships/notesSlide" Target="/ppt/notesSlides/notesSlide12.xml" Id="Rfed0c33b213d4ca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894237-CAF9-4418-98E8-9F18199A5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9F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05625F-53F8-490F-BC28-3653A8023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0"/>
            <a:ext cx="3448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6F9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9CA154-02A5-498A-A9F3-DE77720B2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838200"/>
            <a:ext cx="1905000" cy="19050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2F7D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D6EA14-8B47-406E-B57F-DE7521B80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066800"/>
            <a:ext cx="12954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400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5400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6188D8-5704-44CB-97FC-4D915C76D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10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E09F3E"/>
                </a:solidFill>
                <a:latin typeface="Nimbus Sans"/>
                <a:ea typeface="Nimbus Sans"/>
                <a:cs typeface="Nimbus Sans"/>
              </a:defRPr>
            </a:pPr>
            <a:r>
              <a:rPr sz="1200" b="1" i="0">
                <a:solidFill>
                  <a:srgbClr val="E09F3E"/>
                </a:solidFill>
                <a:latin typeface="Nimbus Sans"/>
                <a:ea typeface="Nimbus Sans"/>
                <a:cs typeface="Nimbus Sans"/>
              </a:rPr>
              <a:t>TALLER EU4M ·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F37425-5C65-4697-8E62-2E5236069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7143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3600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Investigación académica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476178-41CB-4814-8E38-974E38A10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76625"/>
            <a:ext cx="666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D7E3EA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 i="0">
                <a:solidFill>
                  <a:srgbClr val="D7E3EA"/>
                </a:solidFill>
                <a:latin typeface="Nimbus Sans"/>
                <a:ea typeface="Nimbus Sans"/>
                <a:cs typeface="Nimbus Sans"/>
              </a:rPr>
              <a:t>De una pregunta a una matriz de fuentes comprobadas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5146ED-AFEE-4218-9DBC-5C0A9A170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2925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i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2 horas · español · presencial · portátil y navegador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A2D421-CF99-4A54-AFF8-C97D70546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34075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E09F3E"/>
                </a:solidFill>
                <a:latin typeface="Nimbus Sans"/>
                <a:ea typeface="Nimbus Sans"/>
                <a:cs typeface="Nimbus Sans"/>
              </a:defRPr>
            </a:pPr>
            <a:r>
              <a:rPr sz="1125" b="1" i="0">
                <a:solidFill>
                  <a:srgbClr val="E09F3E"/>
                </a:solidFill>
                <a:latin typeface="Nimbus Sans"/>
                <a:ea typeface="Nimbus Sans"/>
                <a:cs typeface="Nimbus Sans"/>
              </a:rPr>
              <a:t>Sebastian Rojas-Ordoñez</a:t>
            </a:r>
          </a:p>
        </p:txBody>
      </p:sp>
    </p:spTree>
    <p:extLst>
      <p:ext uri="{BB962C8B-B14F-4D97-AF65-F5344CB8AC3E}">
        <p14:creationId xmlns:p14="http://schemas.microsoft.com/office/powerpoint/2010/main" val="211846588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FE69ED6-AD84-4511-83B3-599DD82AB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9F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3DB835-4649-40A0-BB1C-7B18C13C7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rPr>
              <a:t>MÓDULO 2 · INVESTIGACIÓN ACADÉMICA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025DFC-0BBF-4EF8-99F4-417A505F0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defRPr>
            </a:pPr>
            <a:r>
              <a:rPr sz="25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rPr>
              <a:t>Producto del módulo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297B3E-2DAF-4646-B611-906AC2F2E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049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872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i="0">
                <a:solidFill>
                  <a:srgbClr val="5B6872"/>
                </a:solidFill>
                <a:latin typeface="Nimbus Sans"/>
                <a:ea typeface="Nimbus Sans"/>
                <a:cs typeface="Nimbus Sans"/>
              </a:rPr>
              <a:t>Una cadena de evidencia, no una lista de enlaces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B33804-BB5D-4C0F-B2BB-6B8ACC40D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54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5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FACDD1-6221-4548-A16D-B3DCCF27B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B6872"/>
                </a:solidFill>
                <a:latin typeface="Nimbus Sans"/>
                <a:ea typeface="Nimbus Sans"/>
                <a:cs typeface="Nimbus Sans"/>
              </a:defRPr>
            </a:pPr>
            <a:r>
              <a:rPr sz="750" b="0" i="0">
                <a:solidFill>
                  <a:srgbClr val="5B6872"/>
                </a:solidFill>
                <a:latin typeface="Nimbus Sans"/>
                <a:ea typeface="Nimbus Sans"/>
                <a:cs typeface="Nimbus Sans"/>
              </a:rPr>
              <a:t>EU4M · IA aplicada con verificación ·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0916C7-0D50-433A-83B3-1F22DC65E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0080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defRPr>
            </a:pPr>
            <a:r>
              <a:rPr sz="900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D4BFE2-E717-4732-A5FA-5C486CCCB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5219700" cy="19050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5D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0F0448-389E-452B-85BF-2A05680C0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76200" cy="1905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6F9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EFDF43-1040-49C9-9C49-4AE0AB2A9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00250"/>
            <a:ext cx="4705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defRPr>
            </a:pPr>
            <a:r>
              <a:rPr sz="825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rPr>
              <a:t>PREGUNTA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AB02F6-45CD-4419-9B1E-B1FB68B9E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76475"/>
            <a:ext cx="4724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rPr>
              <a:t>Alcance explícito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28E668-3059-4C46-9FB1-D66B45913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57500"/>
            <a:ext cx="4724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rPr>
              <a:t>Objeto, comparación, población o sistema, resultado y contexto.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41BE7D-F382-4866-BEFC-ACA07C0A6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90700"/>
            <a:ext cx="5219700" cy="19050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5D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0A4A90-FCB2-4B76-96D8-C6C5AA055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90700"/>
            <a:ext cx="76200" cy="1905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D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3815B5-B3AE-47BC-A0A8-497212A1C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000250"/>
            <a:ext cx="4705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2F7D6E"/>
                </a:solidFill>
                <a:latin typeface="Nimbus Sans"/>
                <a:ea typeface="Nimbus Sans"/>
                <a:cs typeface="Nimbus Sans"/>
              </a:defRPr>
            </a:pPr>
            <a:r>
              <a:rPr sz="825" b="1" i="0">
                <a:solidFill>
                  <a:srgbClr val="2F7D6E"/>
                </a:solidFill>
                <a:latin typeface="Nimbus Sans"/>
                <a:ea typeface="Nimbus Sans"/>
                <a:cs typeface="Nimbus Sans"/>
              </a:rPr>
              <a:t>BÚSQUEDA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E890E3-DF04-4AF2-873F-97B4FDF29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276475"/>
            <a:ext cx="4724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rPr>
              <a:t>Ruta reproducible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D338DE-EB59-4917-A774-6C5AF3CC5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857500"/>
            <a:ext cx="4724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rPr>
              <a:t>Términos, filtros, base consultada y fecha.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B3C499-1C1C-4628-8274-7832D9180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5219700" cy="19050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5D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8F25BD-E202-4FE1-B3D4-B2734B0B2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76200" cy="1905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09F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3B9D04-7DC2-4613-AF51-4E3976798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14800"/>
            <a:ext cx="4705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E09F3E"/>
                </a:solidFill>
                <a:latin typeface="Nimbus Sans"/>
                <a:ea typeface="Nimbus Sans"/>
                <a:cs typeface="Nimbus Sans"/>
              </a:defRPr>
            </a:pPr>
            <a:r>
              <a:rPr sz="825" b="1" i="0">
                <a:solidFill>
                  <a:srgbClr val="E09F3E"/>
                </a:solidFill>
                <a:latin typeface="Nimbus Sans"/>
                <a:ea typeface="Nimbus Sans"/>
                <a:cs typeface="Nimbus Sans"/>
              </a:rPr>
              <a:t>MATRIZ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D5A3F6-91ED-402B-A6C4-144B58ECA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91025"/>
            <a:ext cx="4724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rPr>
              <a:t>Pasaje ↔ afirmación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8AB591-56EB-4300-9881-8C52E31FB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72050"/>
            <a:ext cx="4724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rPr>
              <a:t>Metadatos verificados, evidencia localizada y límites.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8D160D-8245-48EB-8D48-FCA1ABA5B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05250"/>
            <a:ext cx="5219700" cy="19050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5D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B6F985E-FB43-47B5-8E54-274A0373C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05250"/>
            <a:ext cx="76200" cy="1905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149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5035F1D-25EF-4798-9D31-35944F6FB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114800"/>
            <a:ext cx="4705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C14953"/>
                </a:solidFill>
                <a:latin typeface="Nimbus Sans"/>
                <a:ea typeface="Nimbus Sans"/>
                <a:cs typeface="Nimbus Sans"/>
              </a:defRPr>
            </a:pPr>
            <a:r>
              <a:rPr sz="825" b="1" i="0">
                <a:solidFill>
                  <a:srgbClr val="C14953"/>
                </a:solidFill>
                <a:latin typeface="Nimbus Sans"/>
                <a:ea typeface="Nimbus Sans"/>
                <a:cs typeface="Nimbus Sans"/>
              </a:rPr>
              <a:t>SÍNTESIS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AA972F4-A4FC-418D-B1DF-C195145A5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391025"/>
            <a:ext cx="4724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rPr>
              <a:t>Prosa proporcional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2DBA565-55C7-47A9-8BA5-C1479D1E4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972050"/>
            <a:ext cx="4724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rPr>
              <a:t>Cada conclusión dice solo lo que las fuentes permiten.</a:t>
            </a:r>
          </a:p>
        </p:txBody>
      </p:sp>
    </p:spTree>
    <p:extLst>
      <p:ext uri="{BB962C8B-B14F-4D97-AF65-F5344CB8AC3E}">
        <p14:creationId xmlns:p14="http://schemas.microsoft.com/office/powerpoint/2010/main" val="212386436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3A0257-CF1A-415D-846D-C5744ACC1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9F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FD317A-35DF-4A06-9777-630C2443D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rPr>
              <a:t>MÓDULO 2 · INVESTIGACIÓN ACADÉMICA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FAE11D-A3A6-49EE-A1F4-17194DDAA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defRPr>
            </a:pPr>
            <a:r>
              <a:rPr sz="25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rPr>
              <a:t>Una pregunta que guía la búsqueda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78C822-2ED5-4728-9C14-3E3407B47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049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872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i="0">
                <a:solidFill>
                  <a:srgbClr val="5B6872"/>
                </a:solidFill>
                <a:latin typeface="Nimbus Sans"/>
                <a:ea typeface="Nimbus Sans"/>
                <a:cs typeface="Nimbus Sans"/>
              </a:rPr>
              <a:t>Del tema amplio a una decisión investigable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586AD3-AAA8-4F11-B590-5B7B50B0B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54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5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4BFA59-27FD-4E91-A66B-470B73002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B6872"/>
                </a:solidFill>
                <a:latin typeface="Nimbus Sans"/>
                <a:ea typeface="Nimbus Sans"/>
                <a:cs typeface="Nimbus Sans"/>
              </a:defRPr>
            </a:pPr>
            <a:r>
              <a:rPr sz="750" b="0" i="0">
                <a:solidFill>
                  <a:srgbClr val="5B6872"/>
                </a:solidFill>
                <a:latin typeface="Nimbus Sans"/>
                <a:ea typeface="Nimbus Sans"/>
                <a:cs typeface="Nimbus Sans"/>
              </a:rPr>
              <a:t>EU4M · IA aplicada con verificación ·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02DB65-B6A8-4B61-8003-60894288F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0080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defRPr>
            </a:pPr>
            <a:r>
              <a:rPr sz="900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77D608-26C1-450A-B38A-F3914831F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3371850" cy="4000500"/>
          </a:xfrm>
          <a:prstGeom xmlns:a="http://schemas.openxmlformats.org/drawingml/2006/main" prst="roundRect">
            <a:avLst>
              <a:gd name="adj" fmla="val 39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5D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61840F-ECC8-4998-A015-6BF1F57F5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6200" cy="400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6F9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36C367-3593-4B77-823C-C25074F60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193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defRPr>
            </a:pPr>
            <a:r>
              <a:rPr sz="825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rPr>
              <a:t>TEMA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3D0EAA-4D0D-4A86-9BD1-7AEE28593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95525"/>
            <a:ext cx="2876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rPr>
              <a:t>Demasiado amplio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C6C5A0-65A4-42E9-9B63-30965701B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76550"/>
            <a:ext cx="2876550" cy="2686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rPr>
              <a:t>‘IA en mecatrónica’ no define qué comparar ni qué evidencia aceptar.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5B68B7-5840-4AD4-9744-D06CBE84B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809750"/>
            <a:ext cx="3371850" cy="4000500"/>
          </a:xfrm>
          <a:prstGeom xmlns:a="http://schemas.openxmlformats.org/drawingml/2006/main" prst="roundRect">
            <a:avLst>
              <a:gd name="adj" fmla="val 39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5D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02A791-3B1C-444D-B0A0-DB74BE410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809750"/>
            <a:ext cx="76200" cy="400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D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D49B15-B7FC-4291-ABD2-6E03D705F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0193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2F7D6E"/>
                </a:solidFill>
                <a:latin typeface="Nimbus Sans"/>
                <a:ea typeface="Nimbus Sans"/>
                <a:cs typeface="Nimbus Sans"/>
              </a:defRPr>
            </a:pPr>
            <a:r>
              <a:rPr sz="825" b="1" i="0">
                <a:solidFill>
                  <a:srgbClr val="2F7D6E"/>
                </a:solidFill>
                <a:latin typeface="Nimbus Sans"/>
                <a:ea typeface="Nimbus Sans"/>
                <a:cs typeface="Nimbus Sans"/>
              </a:rPr>
              <a:t>PREGUNTA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446858-1305-4FD2-A4DD-42167F088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295525"/>
            <a:ext cx="2876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rPr>
              <a:t>Operativa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2489E5-9D42-4023-827C-7590125DA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876550"/>
            <a:ext cx="2876550" cy="2686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rPr>
              <a:t>‘¿Qué evidencia reportada respalda el diagnóstico de fallos basado en datos en actuadores, y bajo qué límites?’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7B9927-E139-46D0-9747-2922E8F51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809750"/>
            <a:ext cx="3371850" cy="4000500"/>
          </a:xfrm>
          <a:prstGeom xmlns:a="http://schemas.openxmlformats.org/drawingml/2006/main" prst="roundRect">
            <a:avLst>
              <a:gd name="adj" fmla="val 39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5D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A7549B-6DCA-42DB-BE6E-6586BB3DB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809750"/>
            <a:ext cx="76200" cy="400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09F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CB5BB8-3724-4A9A-9FB0-381C8ED0C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0193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E09F3E"/>
                </a:solidFill>
                <a:latin typeface="Nimbus Sans"/>
                <a:ea typeface="Nimbus Sans"/>
                <a:cs typeface="Nimbus Sans"/>
              </a:defRPr>
            </a:pPr>
            <a:r>
              <a:rPr sz="825" b="1" i="0">
                <a:solidFill>
                  <a:srgbClr val="E09F3E"/>
                </a:solidFill>
                <a:latin typeface="Nimbus Sans"/>
                <a:ea typeface="Nimbus Sans"/>
                <a:cs typeface="Nimbus Sans"/>
              </a:rPr>
              <a:t>CRITERIO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A64FF1-C441-4140-AC10-EF4D85A2D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95525"/>
            <a:ext cx="2876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rPr>
              <a:t>De inclusión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35EF54-6D14-4353-A287-005D89BDB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876550"/>
            <a:ext cx="2876550" cy="2686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rPr>
              <a:t>Revisión o estudio primario; metadatos verificables; relación directa con la afirmación.</a:t>
            </a:r>
          </a:p>
        </p:txBody>
      </p:sp>
    </p:spTree>
    <p:extLst>
      <p:ext uri="{BB962C8B-B14F-4D97-AF65-F5344CB8AC3E}">
        <p14:creationId xmlns:p14="http://schemas.microsoft.com/office/powerpoint/2010/main" val="85042698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C41D5D8-25CD-41E1-960E-1CB716E22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9F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B620E6-8E52-46C2-A820-F4C096BB6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rPr>
              <a:t>MÓDULO 2 · INVESTIGACIÓN ACADÉMICA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601C0F-1E92-4809-BED4-B77570277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defRPr>
            </a:pPr>
            <a:r>
              <a:rPr sz="25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rPr>
              <a:t>La IA ayuda a diseñar la búsqueda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FE4932-6B6F-4A9E-9ADB-A215732AD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049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872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i="0">
                <a:solidFill>
                  <a:srgbClr val="5B6872"/>
                </a:solidFill>
                <a:latin typeface="Nimbus Sans"/>
                <a:ea typeface="Nimbus Sans"/>
                <a:cs typeface="Nimbus Sans"/>
              </a:rPr>
              <a:t>Pero la base bibliográfica devuelve la evidencia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185379-C045-4867-9058-C8B46E866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54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5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287A02-5E94-49AA-811C-95760B5B2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B6872"/>
                </a:solidFill>
                <a:latin typeface="Nimbus Sans"/>
                <a:ea typeface="Nimbus Sans"/>
                <a:cs typeface="Nimbus Sans"/>
              </a:defRPr>
            </a:pPr>
            <a:r>
              <a:rPr sz="750" b="0" i="0">
                <a:solidFill>
                  <a:srgbClr val="5B6872"/>
                </a:solidFill>
                <a:latin typeface="Nimbus Sans"/>
                <a:ea typeface="Nimbus Sans"/>
                <a:cs typeface="Nimbus Sans"/>
              </a:rPr>
              <a:t>EU4M · IA aplicada con verificación ·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7DF184-BB19-47E5-827A-11711732F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0080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defRPr>
            </a:pPr>
            <a:r>
              <a:rPr sz="900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rPr>
              <a:t>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334686-D38F-4B54-92C1-3DAAE6492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5219700" cy="19050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5D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F24766-4577-49C7-AA3B-3AA3BE1BE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76200" cy="1905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6F9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C283A7-87F3-4B26-A9BC-E83BA44E9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00250"/>
            <a:ext cx="4705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defRPr>
            </a:pPr>
            <a:r>
              <a:rPr sz="825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rPr>
              <a:t>CONCEPTOS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28E29B-61A5-44A8-BB50-338D0A9AB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76475"/>
            <a:ext cx="4724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rPr>
              <a:t>Bloques semánticos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DC4835-7A4D-4763-A2EA-3CA053634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57500"/>
            <a:ext cx="4724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rPr>
              <a:t>Sistema + fenómeno + método + resultado.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7F24DF-9C4C-4325-96D8-D5E87D296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90700"/>
            <a:ext cx="5219700" cy="19050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5D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DFD9E4-1FAC-4CA7-9EF1-92E01D7BF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90700"/>
            <a:ext cx="76200" cy="1905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D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2445B5-D2F4-4A21-A81C-BEA319DC5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000250"/>
            <a:ext cx="4705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2F7D6E"/>
                </a:solidFill>
                <a:latin typeface="Nimbus Sans"/>
                <a:ea typeface="Nimbus Sans"/>
                <a:cs typeface="Nimbus Sans"/>
              </a:defRPr>
            </a:pPr>
            <a:r>
              <a:rPr sz="825" b="1" i="0">
                <a:solidFill>
                  <a:srgbClr val="2F7D6E"/>
                </a:solidFill>
                <a:latin typeface="Nimbus Sans"/>
                <a:ea typeface="Nimbus Sans"/>
                <a:cs typeface="Nimbus Sans"/>
              </a:rPr>
              <a:t>VARIANTES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862DB6-C79D-4F04-A6CC-248AF5EAD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276475"/>
            <a:ext cx="4724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rPr>
              <a:t>Sinónimos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88242F-626F-4A06-9DCD-AEDA88EB3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857500"/>
            <a:ext cx="4724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rPr>
              <a:t>fault diagnosis / fault detection / condition monitoring.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A2ECC9-1A78-4250-96A2-B83CD9D42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5219700" cy="19050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5D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E0A364-924A-4FE9-A0CD-C0F94AA95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76200" cy="1905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09F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21D4B4-38D9-4D2A-8FED-58F1365B5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14800"/>
            <a:ext cx="4705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E09F3E"/>
                </a:solidFill>
                <a:latin typeface="Nimbus Sans"/>
                <a:ea typeface="Nimbus Sans"/>
                <a:cs typeface="Nimbus Sans"/>
              </a:defRPr>
            </a:pPr>
            <a:r>
              <a:rPr sz="825" b="1" i="0">
                <a:solidFill>
                  <a:srgbClr val="E09F3E"/>
                </a:solidFill>
                <a:latin typeface="Nimbus Sans"/>
                <a:ea typeface="Nimbus Sans"/>
                <a:cs typeface="Nimbus Sans"/>
              </a:rPr>
              <a:t>CONSULTA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792626-2EB3-42BC-B938-889853FF6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91025"/>
            <a:ext cx="4724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rPr>
              <a:t>Operadores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790B3F-501B-42F0-9785-5508593E3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72050"/>
            <a:ext cx="4724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rPr>
              <a:t>Comillas, OR, campos, intervalo temporal y criterios.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76B18E4-7284-4730-AB76-4EB6E0980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05250"/>
            <a:ext cx="5219700" cy="19050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5D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0D1BF80-B556-46A6-91F7-7ACDE4016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05250"/>
            <a:ext cx="76200" cy="1905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149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2B8AB3-1CEF-438A-A613-A81048C34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114800"/>
            <a:ext cx="4705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C14953"/>
                </a:solidFill>
                <a:latin typeface="Nimbus Sans"/>
                <a:ea typeface="Nimbus Sans"/>
                <a:cs typeface="Nimbus Sans"/>
              </a:defRPr>
            </a:pPr>
            <a:r>
              <a:rPr sz="825" b="1" i="0">
                <a:solidFill>
                  <a:srgbClr val="C14953"/>
                </a:solidFill>
                <a:latin typeface="Nimbus Sans"/>
                <a:ea typeface="Nimbus Sans"/>
                <a:cs typeface="Nimbus Sans"/>
              </a:rPr>
              <a:t>REGISTRO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080B828-6D73-4DF6-AA9D-5AFCB0891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391025"/>
            <a:ext cx="4724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rPr>
              <a:t>Repetibilidad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30CC098-BB5B-40ED-9CF9-9ADD331A8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972050"/>
            <a:ext cx="4724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rPr>
              <a:t>Guardar consulta exacta, base, fecha y decisiones de exclusión.</a:t>
            </a:r>
          </a:p>
        </p:txBody>
      </p:sp>
    </p:spTree>
    <p:extLst>
      <p:ext uri="{BB962C8B-B14F-4D97-AF65-F5344CB8AC3E}">
        <p14:creationId xmlns:p14="http://schemas.microsoft.com/office/powerpoint/2010/main" val="196997516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DA7B454-5AF8-4176-9087-CB7F13B2A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9F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A5BEE3-88A9-4568-9C89-F09688086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rPr>
              <a:t>MÓDULO 2 · INVESTIGACIÓN ACADÉMICA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6CA5AB-1806-4608-9E82-305E7A20B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defRPr>
            </a:pPr>
            <a:r>
              <a:rPr sz="25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rPr>
              <a:t>Jerarquía práctica de comprobación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5E2794-66DC-4DCC-9B7F-F3EF68190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049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872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i="0">
                <a:solidFill>
                  <a:srgbClr val="5B6872"/>
                </a:solidFill>
                <a:latin typeface="Nimbus Sans"/>
                <a:ea typeface="Nimbus Sans"/>
                <a:cs typeface="Nimbus Sans"/>
              </a:rPr>
              <a:t>No todas las páginas prueban lo mismo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A65154-4204-419B-923D-105091210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54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5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A770D1-CE88-4EE5-8BD8-78A57013A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B6872"/>
                </a:solidFill>
                <a:latin typeface="Nimbus Sans"/>
                <a:ea typeface="Nimbus Sans"/>
                <a:cs typeface="Nimbus Sans"/>
              </a:defRPr>
            </a:pPr>
            <a:r>
              <a:rPr sz="750" b="0" i="0">
                <a:solidFill>
                  <a:srgbClr val="5B6872"/>
                </a:solidFill>
                <a:latin typeface="Nimbus Sans"/>
                <a:ea typeface="Nimbus Sans"/>
                <a:cs typeface="Nimbus Sans"/>
              </a:rPr>
              <a:t>EU4M · IA aplicada con verificación ·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EF504D-1BB4-4ECF-983C-6B2486DDC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0080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defRPr>
            </a:pPr>
            <a:r>
              <a:rPr sz="900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rPr>
              <a:t>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609519-5D46-4EDB-9207-F4DBE0D1E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5219700" cy="19050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5D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D1ECCF-8C62-43B1-8167-B1F687EF1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76200" cy="1905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6F9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390D0E-E02B-4106-9654-A7E8F1F63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00250"/>
            <a:ext cx="4705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defRPr>
            </a:pPr>
            <a:r>
              <a:rPr sz="825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1B300F-DF1D-457E-8C39-AB5DC17F5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76475"/>
            <a:ext cx="4724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rPr>
              <a:t>Registro/editorial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4D09E3-FCF7-4046-8AC0-C9C7CB750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57500"/>
            <a:ext cx="4724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rPr>
              <a:t>DOI y metadatos: existencia, autores, título, año.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F2476F-3984-45FF-8D9B-B49521451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90700"/>
            <a:ext cx="5219700" cy="19050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5D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2908C6-08B4-462F-A15F-CBA422AD3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90700"/>
            <a:ext cx="76200" cy="1905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D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31C49C-2D38-407F-B0B4-8B6DBB524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000250"/>
            <a:ext cx="4705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2F7D6E"/>
                </a:solidFill>
                <a:latin typeface="Nimbus Sans"/>
                <a:ea typeface="Nimbus Sans"/>
                <a:cs typeface="Nimbus Sans"/>
              </a:defRPr>
            </a:pPr>
            <a:r>
              <a:rPr sz="825" b="1" i="0">
                <a:solidFill>
                  <a:srgbClr val="2F7D6E"/>
                </a:solidFill>
                <a:latin typeface="Nimbus Sans"/>
                <a:ea typeface="Nimbus Sans"/>
                <a:cs typeface="Nimbus Sans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204B61-C9E6-492C-A202-654229E0F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276475"/>
            <a:ext cx="4724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rPr>
              <a:t>Texto completo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299762-8CD3-466B-AE15-AA38A7257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857500"/>
            <a:ext cx="4724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rPr>
              <a:t>Método, muestra, resultados y pasaje que respalda la frase.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CC1839-498C-4656-8FE6-DB4C01435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5219700" cy="19050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5D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A9728B-F8C8-4204-802E-74694A0EE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76200" cy="1905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09F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AA4218-153A-4E24-954A-3E970FD6E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14800"/>
            <a:ext cx="4705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E09F3E"/>
                </a:solidFill>
                <a:latin typeface="Nimbus Sans"/>
                <a:ea typeface="Nimbus Sans"/>
                <a:cs typeface="Nimbus Sans"/>
              </a:defRPr>
            </a:pPr>
            <a:r>
              <a:rPr sz="825" b="1" i="0">
                <a:solidFill>
                  <a:srgbClr val="E09F3E"/>
                </a:solidFill>
                <a:latin typeface="Nimbus Sans"/>
                <a:ea typeface="Nimbus Sans"/>
                <a:cs typeface="Nimbus Sans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341916-B9DC-4B46-B417-BB3DAC83B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91025"/>
            <a:ext cx="4724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rPr>
              <a:t>Revisión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2B5D196-2A5F-4B02-83C0-FF2D976C0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72050"/>
            <a:ext cx="4724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rPr>
              <a:t>Mapa del campo, términos y trabajos primarios relevantes.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DD10EB-CAA0-4346-832F-7C060CE6A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05250"/>
            <a:ext cx="5219700" cy="19050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5D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3A74EC-6B97-4DA7-BC08-B12336AA5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05250"/>
            <a:ext cx="76200" cy="1905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149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0A707E6-1DEE-40BA-B730-285F67A3B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114800"/>
            <a:ext cx="4705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C14953"/>
                </a:solidFill>
                <a:latin typeface="Nimbus Sans"/>
                <a:ea typeface="Nimbus Sans"/>
                <a:cs typeface="Nimbus Sans"/>
              </a:defRPr>
            </a:pPr>
            <a:r>
              <a:rPr sz="825" b="1" i="0">
                <a:solidFill>
                  <a:srgbClr val="C14953"/>
                </a:solidFill>
                <a:latin typeface="Nimbus Sans"/>
                <a:ea typeface="Nimbus Sans"/>
                <a:cs typeface="Nimbus Sans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C4A4265-17C1-4CCE-9C05-DA5F5C295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391025"/>
            <a:ext cx="4724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rPr>
              <a:t>Resumen secundario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AEC7CD7-BDCD-4445-9E70-ED3E8E801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972050"/>
            <a:ext cx="4724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rPr>
              <a:t>Orientación inicial; insuficiente para muchas afirmaciones técnicas.</a:t>
            </a:r>
          </a:p>
        </p:txBody>
      </p:sp>
    </p:spTree>
    <p:extLst>
      <p:ext uri="{BB962C8B-B14F-4D97-AF65-F5344CB8AC3E}">
        <p14:creationId xmlns:p14="http://schemas.microsoft.com/office/powerpoint/2010/main" val="145102636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FAD2263-0740-40D2-A254-F6F6022E2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9F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113F4E-D292-4506-8E69-2857D0D7F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rPr>
              <a:t>MÓDULO 2 · INVESTIGACIÓN ACADÉMICA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0E97F5-3BA4-4B73-AA78-D4169C6EB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defRPr>
            </a:pPr>
            <a:r>
              <a:rPr sz="25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rPr>
              <a:t>DOI ≠ evidencia completa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02A734-90F4-4916-9030-9FA759BCE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049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872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i="0">
                <a:solidFill>
                  <a:srgbClr val="5B6872"/>
                </a:solidFill>
                <a:latin typeface="Nimbus Sans"/>
                <a:ea typeface="Nimbus Sans"/>
                <a:cs typeface="Nimbus Sans"/>
              </a:rPr>
              <a:t>Verifique cuatro niveles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94CFEA-55A8-4EB3-9B01-F9B8FB7C0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54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5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B29EE1-EEBB-4A66-BD04-181A3BB8D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B6872"/>
                </a:solidFill>
                <a:latin typeface="Nimbus Sans"/>
                <a:ea typeface="Nimbus Sans"/>
                <a:cs typeface="Nimbus Sans"/>
              </a:defRPr>
            </a:pPr>
            <a:r>
              <a:rPr sz="750" b="0" i="0">
                <a:solidFill>
                  <a:srgbClr val="5B6872"/>
                </a:solidFill>
                <a:latin typeface="Nimbus Sans"/>
                <a:ea typeface="Nimbus Sans"/>
                <a:cs typeface="Nimbus Sans"/>
              </a:rPr>
              <a:t>EU4M · IA aplicada con verificación ·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5F59DF-AAD1-4F46-9FEE-786151B24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0080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defRPr>
            </a:pPr>
            <a:r>
              <a:rPr sz="900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rPr>
              <a:t>06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FB89A1-2103-47D4-BAC2-D566DD660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5219700" cy="19050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5D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C172D8-5AA1-41A0-A923-44BC4D065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76200" cy="1905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6F9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E9A9A0-81C4-4FBD-B98C-99A0CE886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00250"/>
            <a:ext cx="4705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defRPr>
            </a:pPr>
            <a:r>
              <a:rPr sz="825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rPr>
              <a:t>RESOLVER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A4A0A8-7116-4270-BAE3-10D2D2472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76475"/>
            <a:ext cx="4724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rPr>
              <a:t>¿Existe?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66F6D9-A2C9-4C8F-9650-82A63705D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57500"/>
            <a:ext cx="4724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rPr>
              <a:t>Abra https://doi.org/{doi}; no confíe en la sintaxis.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7EBD62-47BB-4029-8A6F-D39EA74B8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90700"/>
            <a:ext cx="5219700" cy="19050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5D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43CCFB-558E-4D26-BA10-67F17B0ED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90700"/>
            <a:ext cx="76200" cy="1905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D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8A148A-1A40-469D-92A8-96EF44F6C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000250"/>
            <a:ext cx="4705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2F7D6E"/>
                </a:solidFill>
                <a:latin typeface="Nimbus Sans"/>
                <a:ea typeface="Nimbus Sans"/>
                <a:cs typeface="Nimbus Sans"/>
              </a:defRPr>
            </a:pPr>
            <a:r>
              <a:rPr sz="825" b="1" i="0">
                <a:solidFill>
                  <a:srgbClr val="2F7D6E"/>
                </a:solidFill>
                <a:latin typeface="Nimbus Sans"/>
                <a:ea typeface="Nimbus Sans"/>
                <a:cs typeface="Nimbus Sans"/>
              </a:rPr>
              <a:t>METADATOS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48F941-5A01-4C20-B5D0-21A61646C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276475"/>
            <a:ext cx="4724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rPr>
              <a:t>¿Coincide?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3FBFF5-8F21-44FB-B0AF-D4021F9F2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857500"/>
            <a:ext cx="4724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rPr>
              <a:t>Autores, título, revista/congreso, año y tipo de documento.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E39D09-24E9-4A24-A153-3B0B3194A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5219700" cy="19050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5D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81477F-F402-439B-AEF6-4728E1342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76200" cy="1905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09F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808F03-9AC7-4C22-A69B-C5CE8657A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14800"/>
            <a:ext cx="4705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E09F3E"/>
                </a:solidFill>
                <a:latin typeface="Nimbus Sans"/>
                <a:ea typeface="Nimbus Sans"/>
                <a:cs typeface="Nimbus Sans"/>
              </a:defRPr>
            </a:pPr>
            <a:r>
              <a:rPr sz="825" b="1" i="0">
                <a:solidFill>
                  <a:srgbClr val="E09F3E"/>
                </a:solidFill>
                <a:latin typeface="Nimbus Sans"/>
                <a:ea typeface="Nimbus Sans"/>
                <a:cs typeface="Nimbus Sans"/>
              </a:rPr>
              <a:t>PASAJE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CF28B1-2F26-44F3-A3F8-7078D34DD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91025"/>
            <a:ext cx="4724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rPr>
              <a:t>¿Lo dice?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3F5939-5B32-4AC4-9CD0-DDDD1187B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72050"/>
            <a:ext cx="4724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rPr>
              <a:t>Localice el fragmento, tabla o figura que respalda su afirmación.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1E607B-D3AB-4A5F-916D-B9BB1F8BD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05250"/>
            <a:ext cx="5219700" cy="19050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5D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9B823DD-2600-44EE-AA91-C4D5C257D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05250"/>
            <a:ext cx="76200" cy="1905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149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8FA9355-CA5A-4335-B69D-3DF6FF6EF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114800"/>
            <a:ext cx="4705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C14953"/>
                </a:solidFill>
                <a:latin typeface="Nimbus Sans"/>
                <a:ea typeface="Nimbus Sans"/>
                <a:cs typeface="Nimbus Sans"/>
              </a:defRPr>
            </a:pPr>
            <a:r>
              <a:rPr sz="825" b="1" i="0">
                <a:solidFill>
                  <a:srgbClr val="C14953"/>
                </a:solidFill>
                <a:latin typeface="Nimbus Sans"/>
                <a:ea typeface="Nimbus Sans"/>
                <a:cs typeface="Nimbus Sans"/>
              </a:rPr>
              <a:t>ALCANCE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7824AFA-D956-463E-BF74-3440AB59E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391025"/>
            <a:ext cx="4724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rPr>
              <a:t>¿Hasta dónde?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5F404D9-1DD8-4BB9-B74C-09194470C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972050"/>
            <a:ext cx="4724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rPr>
              <a:t>Anote muestra, sistema, supuestos, incertidumbre y generalización posible.</a:t>
            </a:r>
          </a:p>
        </p:txBody>
      </p:sp>
    </p:spTree>
    <p:extLst>
      <p:ext uri="{BB962C8B-B14F-4D97-AF65-F5344CB8AC3E}">
        <p14:creationId xmlns:p14="http://schemas.microsoft.com/office/powerpoint/2010/main" val="71871541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8718B5-6E51-4429-A4E7-9FA2C46E5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9F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0FF4D7-4836-415B-B353-F660C0F0B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rPr>
              <a:t>MÓDULO 2 · INVESTIGACIÓN ACADÉMICA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5817FF-297D-440D-9198-BD074B606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defRPr>
            </a:pPr>
            <a:r>
              <a:rPr sz="25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rPr>
              <a:t>Actividad · Verificar tres referencias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EAAF4E-94AF-43F6-B253-839EDC707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049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872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i="0">
                <a:solidFill>
                  <a:srgbClr val="5B6872"/>
                </a:solidFill>
                <a:latin typeface="Nimbus Sans"/>
                <a:ea typeface="Nimbus Sans"/>
                <a:cs typeface="Nimbus Sans"/>
              </a:rPr>
              <a:t>Una de las pistas no basta por sí sola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3EFC06-23DC-4560-A86D-2A645FD79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54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5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B9CFD5-D419-4A41-AC33-C4E688D98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B6872"/>
                </a:solidFill>
                <a:latin typeface="Nimbus Sans"/>
                <a:ea typeface="Nimbus Sans"/>
                <a:cs typeface="Nimbus Sans"/>
              </a:defRPr>
            </a:pPr>
            <a:r>
              <a:rPr sz="750" b="0" i="0">
                <a:solidFill>
                  <a:srgbClr val="5B6872"/>
                </a:solidFill>
                <a:latin typeface="Nimbus Sans"/>
                <a:ea typeface="Nimbus Sans"/>
                <a:cs typeface="Nimbus Sans"/>
              </a:rPr>
              <a:t>EU4M · IA aplicada con verificación ·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85C96A-9BE9-4EF1-AED3-CB343A1D7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0080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defRPr>
            </a:pPr>
            <a:r>
              <a:rPr sz="900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rPr>
              <a:t>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509A26-9801-402D-A0B6-57B9FAE83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239000" cy="400050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5D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221F70-E67C-4D9F-B183-10F7DE72C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114550"/>
            <a:ext cx="6572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defRPr>
            </a:pPr>
            <a:r>
              <a:rPr sz="1875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rPr>
              <a:t>Construya una matriz que otro estudiante pueda auditar.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BF2131-31F0-499D-A821-F56B8696A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19450"/>
            <a:ext cx="361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6F9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28BBF6-0505-4369-A79A-EDA6EB6EF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219450"/>
            <a:ext cx="5857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rPr>
              <a:t>Resuelva DOI o localice el registro editorial.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62E693-59DA-4305-9286-1AEB4EA14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29050"/>
            <a:ext cx="361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6F9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03F159-49BE-4C60-94EC-46AD38EFE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829050"/>
            <a:ext cx="5857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rPr>
              <a:t>Compare metadatos con la referencia propuesta.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4C2149-3740-4D52-80BB-FCE5958CC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38650"/>
            <a:ext cx="361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6F9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CFA4C7-61ED-4F5A-9E4B-C38A78A2A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38650"/>
            <a:ext cx="5857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rPr>
              <a:t>Localice el pasaje que responde a la pregunta.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ABC7EC-A4FC-4B01-91E3-32CAA5F5E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48250"/>
            <a:ext cx="361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6F9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FBAD6C-3E1D-495B-BC0B-343337DC4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048250"/>
            <a:ext cx="5857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rPr>
              <a:t>Anote qué NO puede concluirse.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03A9BA-2DE9-4122-B143-5915B64E2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809750"/>
            <a:ext cx="3257550" cy="4000500"/>
          </a:xfrm>
          <a:prstGeom xmlns:a="http://schemas.openxmlformats.org/drawingml/2006/main" prst="roundRect">
            <a:avLst>
              <a:gd name="adj" fmla="val 4678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ECA47E-D4FF-4FA7-94C9-08A64F2BD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133600"/>
            <a:ext cx="24193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300" b="1" i="0">
                <a:solidFill>
                  <a:srgbClr val="E09F3E"/>
                </a:solidFill>
                <a:latin typeface="Nimbus Sans"/>
                <a:ea typeface="Nimbus Sans"/>
                <a:cs typeface="Nimbus Sans"/>
              </a:defRPr>
            </a:pPr>
            <a:r>
              <a:rPr sz="3300" b="1" i="0">
                <a:solidFill>
                  <a:srgbClr val="E09F3E"/>
                </a:solidFill>
                <a:latin typeface="Nimbus Sans"/>
                <a:ea typeface="Nimbus Sans"/>
                <a:cs typeface="Nimbus Sans"/>
              </a:rPr>
              <a:t>30 min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DC059C-BE65-4323-9F19-E94CCADDC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190875"/>
            <a:ext cx="24955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500" b="0" i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3 filas en templates/source_matrix.csv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EED8E7-7E12-4221-86B9-9FBD24ADF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5095875"/>
            <a:ext cx="2495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C9D9E3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C9D9E3"/>
                </a:solidFill>
                <a:latin typeface="Nimbus Sans"/>
                <a:ea typeface="Nimbus Sans"/>
                <a:cs typeface="Nimbus Sans"/>
              </a:rPr>
              <a:t>INDIVIDUAL</a:t>
            </a:r>
          </a:p>
        </p:txBody>
      </p:sp>
    </p:spTree>
    <p:extLst>
      <p:ext uri="{BB962C8B-B14F-4D97-AF65-F5344CB8AC3E}">
        <p14:creationId xmlns:p14="http://schemas.microsoft.com/office/powerpoint/2010/main" val="177419191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AA5D55-C742-4FFE-869D-BAACFB9E0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9F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C4D152-4186-4315-A807-59B974EE9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rPr>
              <a:t>MÓDULO 2 · INVESTIGACIÓN ACADÉMICA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828140-2A01-4821-AA15-B299085CD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defRPr>
            </a:pPr>
            <a:r>
              <a:rPr sz="25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rPr>
              <a:t>De la matriz a la síntesis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64DD02-7EC6-4166-923F-00ABAFB19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049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872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i="0">
                <a:solidFill>
                  <a:srgbClr val="5B6872"/>
                </a:solidFill>
                <a:latin typeface="Nimbus Sans"/>
                <a:ea typeface="Nimbus Sans"/>
                <a:cs typeface="Nimbus Sans"/>
              </a:rPr>
              <a:t>Escribir significa relacionar, no apilar resúmenes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3464A5-6BEA-4978-BC7A-458CF6911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54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5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33F421-C4CD-46DF-B72D-50554B7BE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B6872"/>
                </a:solidFill>
                <a:latin typeface="Nimbus Sans"/>
                <a:ea typeface="Nimbus Sans"/>
                <a:cs typeface="Nimbus Sans"/>
              </a:defRPr>
            </a:pPr>
            <a:r>
              <a:rPr sz="750" b="0" i="0">
                <a:solidFill>
                  <a:srgbClr val="5B6872"/>
                </a:solidFill>
                <a:latin typeface="Nimbus Sans"/>
                <a:ea typeface="Nimbus Sans"/>
                <a:cs typeface="Nimbus Sans"/>
              </a:rPr>
              <a:t>EU4M · IA aplicada con verificación ·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C47C46-26F3-4437-9738-D1D14316B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0080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defRPr>
            </a:pPr>
            <a:r>
              <a:rPr sz="900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rPr>
              <a:t>08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8D3E31-584D-4012-BA1D-F4CFF0615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3371850" cy="4000500"/>
          </a:xfrm>
          <a:prstGeom xmlns:a="http://schemas.openxmlformats.org/drawingml/2006/main" prst="roundRect">
            <a:avLst>
              <a:gd name="adj" fmla="val 39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5D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4486EC-79E9-4D99-A5D6-51959BEA1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6200" cy="400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6F9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A92173-6692-4A65-88A1-3BD60DF94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193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defRPr>
            </a:pPr>
            <a:r>
              <a:rPr sz="825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rPr>
              <a:t>COINCIDENCIA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DC5CF7-B8E9-41D4-BD16-07B5B6AE5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95525"/>
            <a:ext cx="2876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rPr>
              <a:t>Qué converge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126BB1-9637-413A-9F31-65EC36D6D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76550"/>
            <a:ext cx="2876550" cy="2686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rPr>
              <a:t>Varios trabajos sostienen una observación comparable en contextos explícitos.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9CD3FA-9087-4CFA-8466-EF2DE306F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809750"/>
            <a:ext cx="3371850" cy="4000500"/>
          </a:xfrm>
          <a:prstGeom xmlns:a="http://schemas.openxmlformats.org/drawingml/2006/main" prst="roundRect">
            <a:avLst>
              <a:gd name="adj" fmla="val 39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5D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177350-4C6B-495D-A3AD-C8A8CA1EA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809750"/>
            <a:ext cx="76200" cy="400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D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FB2AA9-EE41-4024-9EF5-34A4B13BC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0193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2F7D6E"/>
                </a:solidFill>
                <a:latin typeface="Nimbus Sans"/>
                <a:ea typeface="Nimbus Sans"/>
                <a:cs typeface="Nimbus Sans"/>
              </a:defRPr>
            </a:pPr>
            <a:r>
              <a:rPr sz="825" b="1" i="0">
                <a:solidFill>
                  <a:srgbClr val="2F7D6E"/>
                </a:solidFill>
                <a:latin typeface="Nimbus Sans"/>
                <a:ea typeface="Nimbus Sans"/>
                <a:cs typeface="Nimbus Sans"/>
              </a:rPr>
              <a:t>DIFERENCIA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C94089-5E2C-42B1-94E1-0521E25D1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295525"/>
            <a:ext cx="2876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rPr>
              <a:t>Qué cambia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2149E1-DFC5-4F4A-9076-DB15FDA2E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876550"/>
            <a:ext cx="2876550" cy="2686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rPr>
              <a:t>Datos, arquitectura, métrica, escala, carga o criterio de evaluación.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59516A-4C3A-40F7-BE74-9E11498DB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809750"/>
            <a:ext cx="3371850" cy="4000500"/>
          </a:xfrm>
          <a:prstGeom xmlns:a="http://schemas.openxmlformats.org/drawingml/2006/main" prst="roundRect">
            <a:avLst>
              <a:gd name="adj" fmla="val 39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5D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F438B9-E776-47ED-8DD3-2FAC67DF9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809750"/>
            <a:ext cx="76200" cy="400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09F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05ABB1-DFED-47EF-ABB4-04512D98A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0193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E09F3E"/>
                </a:solidFill>
                <a:latin typeface="Nimbus Sans"/>
                <a:ea typeface="Nimbus Sans"/>
                <a:cs typeface="Nimbus Sans"/>
              </a:defRPr>
            </a:pPr>
            <a:r>
              <a:rPr sz="825" b="1" i="0">
                <a:solidFill>
                  <a:srgbClr val="E09F3E"/>
                </a:solidFill>
                <a:latin typeface="Nimbus Sans"/>
                <a:ea typeface="Nimbus Sans"/>
                <a:cs typeface="Nimbus Sans"/>
              </a:rPr>
              <a:t>VACÍO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31BCC9-BE2C-4D10-8C33-189872B64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95525"/>
            <a:ext cx="2876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rPr>
              <a:t>Qué falta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4A6BEF-999F-49DE-A864-8393DC6D8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876550"/>
            <a:ext cx="2876550" cy="2686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rPr>
              <a:t>Validación externa, datos reales, comparación justa o detalle reproducible.</a:t>
            </a:r>
          </a:p>
        </p:txBody>
      </p:sp>
    </p:spTree>
    <p:extLst>
      <p:ext uri="{BB962C8B-B14F-4D97-AF65-F5344CB8AC3E}">
        <p14:creationId xmlns:p14="http://schemas.microsoft.com/office/powerpoint/2010/main" val="210497983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2D7C43-4241-48C0-92E9-26782F22D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9F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EA9B67-7CB8-4CD3-A27A-90B72E802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rPr>
              <a:t>MÓDULO 2 · INVESTIGACIÓN ACADÉMICA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13C6A5-2B8D-427C-92E7-4FCAB5355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defRPr>
            </a:pPr>
            <a:r>
              <a:rPr sz="25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rPr>
              <a:t>Paráfrasis, traducción y citas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314867-CD25-4072-980F-E4623AE8D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049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872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i="0">
                <a:solidFill>
                  <a:srgbClr val="5B6872"/>
                </a:solidFill>
                <a:latin typeface="Nimbus Sans"/>
                <a:ea typeface="Nimbus Sans"/>
                <a:cs typeface="Nimbus Sans"/>
              </a:rPr>
              <a:t>Cambiar palabras no cambia la obligación de comprobar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C8D686-0021-48C7-B1BC-F6D954654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54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5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1CE74E-F920-43CE-B202-27959A331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B6872"/>
                </a:solidFill>
                <a:latin typeface="Nimbus Sans"/>
                <a:ea typeface="Nimbus Sans"/>
                <a:cs typeface="Nimbus Sans"/>
              </a:defRPr>
            </a:pPr>
            <a:r>
              <a:rPr sz="750" b="0" i="0">
                <a:solidFill>
                  <a:srgbClr val="5B6872"/>
                </a:solidFill>
                <a:latin typeface="Nimbus Sans"/>
                <a:ea typeface="Nimbus Sans"/>
                <a:cs typeface="Nimbus Sans"/>
              </a:rPr>
              <a:t>EU4M · IA aplicada con verificación ·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1BD301-4E42-4B56-9AC3-70AEBB019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0080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defRPr>
            </a:pPr>
            <a:r>
              <a:rPr sz="900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rPr>
              <a:t>09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A60E04-BE54-414B-9D82-24D7E1686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3371850" cy="4000500"/>
          </a:xfrm>
          <a:prstGeom xmlns:a="http://schemas.openxmlformats.org/drawingml/2006/main" prst="roundRect">
            <a:avLst>
              <a:gd name="adj" fmla="val 39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5D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386E8F-3584-4F61-89B2-AB458F106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6200" cy="400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6F9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95BC4B-6436-474E-A76A-28A5C62A7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193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defRPr>
            </a:pPr>
            <a:r>
              <a:rPr sz="825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rPr>
              <a:t>PARÁFRASIS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575676-D075-406B-9742-801EBFF30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95525"/>
            <a:ext cx="2876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rPr>
              <a:t>Mantener el significado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3DF697-AA9A-46C6-85B2-DF3E321DA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76550"/>
            <a:ext cx="2876550" cy="2686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rPr>
              <a:t>Compare con el pasaje original; no amplíe causalidad, precisión ni población.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5F7079-EAD4-46B7-A4E2-53DC05AF7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809750"/>
            <a:ext cx="3371850" cy="4000500"/>
          </a:xfrm>
          <a:prstGeom xmlns:a="http://schemas.openxmlformats.org/drawingml/2006/main" prst="roundRect">
            <a:avLst>
              <a:gd name="adj" fmla="val 39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5D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28F4CA-732E-4F02-80C9-0901E3E16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809750"/>
            <a:ext cx="76200" cy="400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D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EA1E36-A69D-4AF0-A8F6-4B30DDAEE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0193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2F7D6E"/>
                </a:solidFill>
                <a:latin typeface="Nimbus Sans"/>
                <a:ea typeface="Nimbus Sans"/>
                <a:cs typeface="Nimbus Sans"/>
              </a:defRPr>
            </a:pPr>
            <a:r>
              <a:rPr sz="825" b="1" i="0">
                <a:solidFill>
                  <a:srgbClr val="2F7D6E"/>
                </a:solidFill>
                <a:latin typeface="Nimbus Sans"/>
                <a:ea typeface="Nimbus Sans"/>
                <a:cs typeface="Nimbus Sans"/>
              </a:rPr>
              <a:t>TRADUCCIÓN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1013DF-F3D8-48BA-83A0-A7F331439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295525"/>
            <a:ext cx="2876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rPr>
              <a:t>Conservar términos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548580-43AC-445B-BBA0-DB4830866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876550"/>
            <a:ext cx="2876550" cy="2686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rPr>
              <a:t>Fije un glosario y revise unidades, negaciones y vocabulario técnico.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9774DC-B519-4207-B51D-68F68C4B6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809750"/>
            <a:ext cx="3371850" cy="4000500"/>
          </a:xfrm>
          <a:prstGeom xmlns:a="http://schemas.openxmlformats.org/drawingml/2006/main" prst="roundRect">
            <a:avLst>
              <a:gd name="adj" fmla="val 39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5D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31EED7-9AD7-4F3A-BAF8-6D7945F26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809750"/>
            <a:ext cx="76200" cy="400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09F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7041AE-4F23-465E-8715-D0462915A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0193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E09F3E"/>
                </a:solidFill>
                <a:latin typeface="Nimbus Sans"/>
                <a:ea typeface="Nimbus Sans"/>
                <a:cs typeface="Nimbus Sans"/>
              </a:defRPr>
            </a:pPr>
            <a:r>
              <a:rPr sz="825" b="1" i="0">
                <a:solidFill>
                  <a:srgbClr val="E09F3E"/>
                </a:solidFill>
                <a:latin typeface="Nimbus Sans"/>
                <a:ea typeface="Nimbus Sans"/>
                <a:cs typeface="Nimbus Sans"/>
              </a:rPr>
              <a:t>CITACIÓN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EC5E67-04BB-4DEB-A405-CDC6B2980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95525"/>
            <a:ext cx="2876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rPr>
              <a:t>Atribuir la afirmación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0FEE68-08DA-417C-A543-922BF7147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876550"/>
            <a:ext cx="2876550" cy="2686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rPr>
              <a:t>Cite la fuente realmente leída, no una referencia sugerida por una IA.</a:t>
            </a:r>
          </a:p>
        </p:txBody>
      </p:sp>
    </p:spTree>
    <p:extLst>
      <p:ext uri="{BB962C8B-B14F-4D97-AF65-F5344CB8AC3E}">
        <p14:creationId xmlns:p14="http://schemas.microsoft.com/office/powerpoint/2010/main" val="134904973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1F83A2-5C5D-4A4A-8F95-E902711FF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9F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EFCCD9-15C8-4CDA-999A-02E34FAF5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rPr>
              <a:t>MÓDULO 2 · INVESTIGACIÓN ACADÉMICA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375CBC-61AC-4320-ABB8-2D1F59D88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defRPr>
            </a:pPr>
            <a:r>
              <a:rPr sz="25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rPr>
              <a:t>Tres trampas frecuentes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3F417D-D170-466E-87E1-AA10B395E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049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872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i="0">
                <a:solidFill>
                  <a:srgbClr val="5B6872"/>
                </a:solidFill>
                <a:latin typeface="Nimbus Sans"/>
                <a:ea typeface="Nimbus Sans"/>
                <a:cs typeface="Nimbus Sans"/>
              </a:rPr>
              <a:t>Se detectan con una pregunta corta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194AFE-2AE6-4194-9AA0-82B3FCD94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54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5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0355A3-EF09-487A-9AB6-480FE9C2A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B6872"/>
                </a:solidFill>
                <a:latin typeface="Nimbus Sans"/>
                <a:ea typeface="Nimbus Sans"/>
                <a:cs typeface="Nimbus Sans"/>
              </a:defRPr>
            </a:pPr>
            <a:r>
              <a:rPr sz="750" b="0" i="0">
                <a:solidFill>
                  <a:srgbClr val="5B6872"/>
                </a:solidFill>
                <a:latin typeface="Nimbus Sans"/>
                <a:ea typeface="Nimbus Sans"/>
                <a:cs typeface="Nimbus Sans"/>
              </a:rPr>
              <a:t>EU4M · IA aplicada con verificación ·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CBF6F5-2F26-41D0-AC88-5EDE2065B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0080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defRPr>
            </a:pPr>
            <a:r>
              <a:rPr sz="900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rPr>
              <a:t>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BF40BE-489E-464F-9328-3944DDE1E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3371850" cy="4000500"/>
          </a:xfrm>
          <a:prstGeom xmlns:a="http://schemas.openxmlformats.org/drawingml/2006/main" prst="roundRect">
            <a:avLst>
              <a:gd name="adj" fmla="val 39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5D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FB8792-DCD4-4B88-8609-3F4400595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6200" cy="400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6F9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4EF1EF-782C-4AFD-8327-6C408786F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193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defRPr>
            </a:pPr>
            <a:r>
              <a:rPr sz="825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rPr>
              <a:t>CIRCULAR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F1D1F0-A574-4658-9867-8C2AE28B5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95525"/>
            <a:ext cx="2876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rPr>
              <a:t>¿La IA se cita a sí misma?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3A94FE-713E-43C3-8C0C-FC3454334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76550"/>
            <a:ext cx="2876550" cy="2686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rPr>
              <a:t>Una respuesta generada no valida otra respuesta generada.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908F62-9101-4A3A-A9F4-D28C53FE5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809750"/>
            <a:ext cx="3371850" cy="4000500"/>
          </a:xfrm>
          <a:prstGeom xmlns:a="http://schemas.openxmlformats.org/drawingml/2006/main" prst="roundRect">
            <a:avLst>
              <a:gd name="adj" fmla="val 39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5D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97E4F5-C37B-498A-8E1B-CBE9C7015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809750"/>
            <a:ext cx="76200" cy="400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D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F00251-18A4-4389-A4A1-A5D38512B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0193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2F7D6E"/>
                </a:solidFill>
                <a:latin typeface="Nimbus Sans"/>
                <a:ea typeface="Nimbus Sans"/>
                <a:cs typeface="Nimbus Sans"/>
              </a:defRPr>
            </a:pPr>
            <a:r>
              <a:rPr sz="825" b="1" i="0">
                <a:solidFill>
                  <a:srgbClr val="2F7D6E"/>
                </a:solidFill>
                <a:latin typeface="Nimbus Sans"/>
                <a:ea typeface="Nimbus Sans"/>
                <a:cs typeface="Nimbus Sans"/>
              </a:rPr>
              <a:t>DECORATIVA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CEAE41-BF2D-4E98-BC77-BE1EC830F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295525"/>
            <a:ext cx="2876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rPr>
              <a:t>¿La fuente dice esa frase?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7579D7-BDFF-4187-A818-21215D5AB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876550"/>
            <a:ext cx="2876550" cy="2686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rPr>
              <a:t>Una cita relacionada con el tema puede no respaldar la proposición.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F70D51-732F-46AE-AE77-108903F2F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809750"/>
            <a:ext cx="3371850" cy="4000500"/>
          </a:xfrm>
          <a:prstGeom xmlns:a="http://schemas.openxmlformats.org/drawingml/2006/main" prst="roundRect">
            <a:avLst>
              <a:gd name="adj" fmla="val 39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5D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96F7A9-BBF5-4BD8-A2AA-0B96428D3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809750"/>
            <a:ext cx="76200" cy="400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09F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A3BB09-3D12-470A-A94A-77B761DBF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0193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E09F3E"/>
                </a:solidFill>
                <a:latin typeface="Nimbus Sans"/>
                <a:ea typeface="Nimbus Sans"/>
                <a:cs typeface="Nimbus Sans"/>
              </a:defRPr>
            </a:pPr>
            <a:r>
              <a:rPr sz="825" b="1" i="0">
                <a:solidFill>
                  <a:srgbClr val="E09F3E"/>
                </a:solidFill>
                <a:latin typeface="Nimbus Sans"/>
                <a:ea typeface="Nimbus Sans"/>
                <a:cs typeface="Nimbus Sans"/>
              </a:rPr>
              <a:t>EXCESO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775ABB-EE4B-4628-B933-AC0C5361F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95525"/>
            <a:ext cx="2876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rPr>
              <a:t>¿La conclusión supera el estudio?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4ACCB0-7040-4545-A22F-2E1957F51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876550"/>
            <a:ext cx="2876550" cy="2686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rPr>
              <a:t>De un caso simulado no se salta a ‘funciona en la industria’.</a:t>
            </a:r>
          </a:p>
        </p:txBody>
      </p:sp>
    </p:spTree>
    <p:extLst>
      <p:ext uri="{BB962C8B-B14F-4D97-AF65-F5344CB8AC3E}">
        <p14:creationId xmlns:p14="http://schemas.microsoft.com/office/powerpoint/2010/main" val="84481388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E15C872-4ED3-44F4-B365-67FB24754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9F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49C757-127F-4B9D-9807-193BAFC00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rPr>
              <a:t>MÓDULO 2 · INVESTIGACIÓN ACADÉMICA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F84589-F897-4077-9768-8F5868909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defRPr>
            </a:pPr>
            <a:r>
              <a:rPr sz="25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rPr>
              <a:t>Revisión entre pares en 90 segundos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37AB27-E576-40CD-B5A2-617BB773D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049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872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i="0">
                <a:solidFill>
                  <a:srgbClr val="5B6872"/>
                </a:solidFill>
                <a:latin typeface="Nimbus Sans"/>
                <a:ea typeface="Nimbus Sans"/>
                <a:cs typeface="Nimbus Sans"/>
              </a:rPr>
              <a:t>Cuatro preguntas para una fila de la matriz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63C93D-DAA2-4C8B-B810-F8E0FD264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54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5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2FB8A5-CC74-425A-8ADC-1E3411109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B6872"/>
                </a:solidFill>
                <a:latin typeface="Nimbus Sans"/>
                <a:ea typeface="Nimbus Sans"/>
                <a:cs typeface="Nimbus Sans"/>
              </a:defRPr>
            </a:pPr>
            <a:r>
              <a:rPr sz="750" b="0" i="0">
                <a:solidFill>
                  <a:srgbClr val="5B6872"/>
                </a:solidFill>
                <a:latin typeface="Nimbus Sans"/>
                <a:ea typeface="Nimbus Sans"/>
                <a:cs typeface="Nimbus Sans"/>
              </a:rPr>
              <a:t>EU4M · IA aplicada con verificación ·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FB6219-2345-4B70-9A3A-8E5C0E40F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0080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defRPr>
            </a:pPr>
            <a:r>
              <a:rPr sz="900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rPr>
              <a:t>11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0FF983-1C3E-4C7E-8AF6-2780FDA56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5219700" cy="19050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5D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2DB94B-1839-4A09-9929-34508FB0F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76200" cy="1905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6F9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544569-4D81-425B-8028-B7CCC95C7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00250"/>
            <a:ext cx="4705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defRPr>
            </a:pPr>
            <a:r>
              <a:rPr sz="825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rPr>
              <a:t>IDENTIDAD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AACB99-1829-4CB7-A95E-1556E22ED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76475"/>
            <a:ext cx="4724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rPr>
              <a:t>¿Metadatos coinciden?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208B15-8872-4D79-9064-AD9692506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57500"/>
            <a:ext cx="4724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rPr>
              <a:t>DOI, título, autores y año.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F9C75D-900E-4997-B526-B34548093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90700"/>
            <a:ext cx="5219700" cy="19050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5D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E61BC2-C37A-41D1-A428-C74F08C8B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90700"/>
            <a:ext cx="76200" cy="1905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D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465285-C514-4A2A-B125-EA37A28B5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000250"/>
            <a:ext cx="4705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2F7D6E"/>
                </a:solidFill>
                <a:latin typeface="Nimbus Sans"/>
                <a:ea typeface="Nimbus Sans"/>
                <a:cs typeface="Nimbus Sans"/>
              </a:defRPr>
            </a:pPr>
            <a:r>
              <a:rPr sz="825" b="1" i="0">
                <a:solidFill>
                  <a:srgbClr val="2F7D6E"/>
                </a:solidFill>
                <a:latin typeface="Nimbus Sans"/>
                <a:ea typeface="Nimbus Sans"/>
                <a:cs typeface="Nimbus Sans"/>
              </a:rPr>
              <a:t>PERTINENCIA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48BE5C-C274-465B-96B1-8FE08D36E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276475"/>
            <a:ext cx="4724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rPr>
              <a:t>¿Responde a la pregunta?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DAE60E-13A3-44FA-8DF0-75D900205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857500"/>
            <a:ext cx="4724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rPr>
              <a:t>No solo comparte palabras clave.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F376BC-6FC1-4DD9-9FAC-1FEFE2F60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5219700" cy="19050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5D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4398B2-51E3-4818-97D0-2715703F9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76200" cy="1905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09F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BD24ED-AF02-4186-A223-BF78BD727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14800"/>
            <a:ext cx="4705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E09F3E"/>
                </a:solidFill>
                <a:latin typeface="Nimbus Sans"/>
                <a:ea typeface="Nimbus Sans"/>
                <a:cs typeface="Nimbus Sans"/>
              </a:defRPr>
            </a:pPr>
            <a:r>
              <a:rPr sz="825" b="1" i="0">
                <a:solidFill>
                  <a:srgbClr val="E09F3E"/>
                </a:solidFill>
                <a:latin typeface="Nimbus Sans"/>
                <a:ea typeface="Nimbus Sans"/>
                <a:cs typeface="Nimbus Sans"/>
              </a:rPr>
              <a:t>RESPALDO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3D6DE2-C2B4-4779-AC29-F45786806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91025"/>
            <a:ext cx="4724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rPr>
              <a:t>¿Hay pasaje localizable?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FD28C3-0D48-4976-9846-44D49C187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72050"/>
            <a:ext cx="4724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rPr>
              <a:t>Página, sección, tabla o figura.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23567F-428D-4BFD-85DB-13522DCDE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05250"/>
            <a:ext cx="5219700" cy="19050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5D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6E95729-C996-484A-B333-2FF887A7B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05250"/>
            <a:ext cx="76200" cy="1905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149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CEFE966-3460-4FFE-A11D-BA54095BC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114800"/>
            <a:ext cx="4705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C14953"/>
                </a:solidFill>
                <a:latin typeface="Nimbus Sans"/>
                <a:ea typeface="Nimbus Sans"/>
                <a:cs typeface="Nimbus Sans"/>
              </a:defRPr>
            </a:pPr>
            <a:r>
              <a:rPr sz="825" b="1" i="0">
                <a:solidFill>
                  <a:srgbClr val="C14953"/>
                </a:solidFill>
                <a:latin typeface="Nimbus Sans"/>
                <a:ea typeface="Nimbus Sans"/>
                <a:cs typeface="Nimbus Sans"/>
              </a:rPr>
              <a:t>LÍMITE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13B75BC-5D55-4AC8-B186-972C55573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391025"/>
            <a:ext cx="4724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rPr>
              <a:t>¿La frase está acotada?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FCE96D9-4036-4A03-BD16-4EC2F036F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972050"/>
            <a:ext cx="4724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rPr>
              <a:t>Sistema, datos y condiciones visibles.</a:t>
            </a:r>
          </a:p>
        </p:txBody>
      </p:sp>
    </p:spTree>
    <p:extLst>
      <p:ext uri="{BB962C8B-B14F-4D97-AF65-F5344CB8AC3E}">
        <p14:creationId xmlns:p14="http://schemas.microsoft.com/office/powerpoint/2010/main" val="166036454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2C2B00-6830-406D-8154-0A0EB87E2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9F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DFB5A0-0B18-489F-B3E3-54BD8D93F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rPr>
              <a:t>MÓDULO 2 · INVESTIGACIÓN ACADÉMICA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247768-A699-4046-9168-75CCC713E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defRPr>
            </a:pPr>
            <a:r>
              <a:rPr sz="25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rPr>
              <a:t>Cierre del módulo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8162A4-76E1-451E-8A47-3BF2AD6C5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54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5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832734-3073-46A3-AA94-8A728E636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B6872"/>
                </a:solidFill>
                <a:latin typeface="Nimbus Sans"/>
                <a:ea typeface="Nimbus Sans"/>
                <a:cs typeface="Nimbus Sans"/>
              </a:defRPr>
            </a:pPr>
            <a:r>
              <a:rPr sz="750" b="0" i="0">
                <a:solidFill>
                  <a:srgbClr val="5B6872"/>
                </a:solidFill>
                <a:latin typeface="Nimbus Sans"/>
                <a:ea typeface="Nimbus Sans"/>
                <a:cs typeface="Nimbus Sans"/>
              </a:rPr>
              <a:t>EU4M · IA aplicada con verificación ·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566B06-E430-4415-8498-A689B4D0D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0080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defRPr>
            </a:pPr>
            <a:r>
              <a:rPr sz="900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rPr>
              <a:t>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1F934B-BE43-4B98-8302-5B4FDA979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095500"/>
            <a:ext cx="9144000" cy="2952750"/>
          </a:xfrm>
          <a:prstGeom xmlns:a="http://schemas.openxmlformats.org/drawingml/2006/main" prst="roundRect">
            <a:avLst>
              <a:gd name="adj" fmla="val 5806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CE4005-FE17-4B8D-931F-6FCB26D54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190750"/>
            <a:ext cx="857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400" b="1" i="0">
                <a:solidFill>
                  <a:srgbClr val="E09F3E"/>
                </a:solidFill>
                <a:latin typeface="Nimbus Sans"/>
                <a:ea typeface="Nimbus Sans"/>
                <a:cs typeface="Nimbus Sans"/>
              </a:defRPr>
            </a:pPr>
            <a:r>
              <a:rPr sz="5400" b="1" i="0">
                <a:solidFill>
                  <a:srgbClr val="E09F3E"/>
                </a:solidFill>
                <a:latin typeface="Nimbus Sans"/>
                <a:ea typeface="Nimbus Sans"/>
                <a:cs typeface="Nimbus Sans"/>
              </a:rPr>
              <a:t>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49E1F2-5EC7-4275-AB8D-43318AEAE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647950"/>
            <a:ext cx="700087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2325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Una referencia verificada conecta identidad, pasaje y alcance.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5154DB-B1EA-4E05-8CE5-9C0D4E63A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257675"/>
            <a:ext cx="676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C9D9E3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 i="0">
                <a:solidFill>
                  <a:srgbClr val="C9D9E3"/>
                </a:solidFill>
                <a:latin typeface="Nimbus Sans"/>
                <a:ea typeface="Nimbus Sans"/>
                <a:cs typeface="Nimbus Sans"/>
              </a:rPr>
              <a:t>Salida: una fila corregida después de la revisión entre pares.</a:t>
            </a:r>
          </a:p>
        </p:txBody>
      </p:sp>
    </p:spTree>
    <p:extLst>
      <p:ext uri="{BB962C8B-B14F-4D97-AF65-F5344CB8AC3E}">
        <p14:creationId xmlns:p14="http://schemas.microsoft.com/office/powerpoint/2010/main" val="12696576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2026-09-12T17:46:12.7220000Z</dcterms:created>
  <dcterms:modified xsi:type="dcterms:W3CDTF">2026-09-12T17:46:12.7220000Z</dcterms:modified>
</coreProperties>
</file>