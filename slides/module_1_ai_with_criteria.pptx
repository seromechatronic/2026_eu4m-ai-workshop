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eb8982e816444e5" /><Relationship Type="http://schemas.openxmlformats.org/officeDocument/2006/relationships/extended-properties" Target="/docProps/app.xml" Id="Ra6f8919dea194432" /><Relationship Type="http://schemas.openxmlformats.org/officeDocument/2006/relationships/officeDocument" Target="/ppt/presentation.xml" Id="Rce29e3023bf547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8efd4a7fdd14de6"/>
  </p:sldMasterIdLst>
  <p:notesMasterIdLst>
    <p:notesMasterId xmlns:r="http://schemas.openxmlformats.org/officeDocument/2006/relationships" r:id="R0e6bc12fd22341b3"/>
  </p:notesMasterIdLst>
  <p:sldIdLst>
    <p:sldId xmlns:r="http://schemas.openxmlformats.org/officeDocument/2006/relationships" id="256" r:id="Red1da997391c404f"/>
    <p:sldId xmlns:r="http://schemas.openxmlformats.org/officeDocument/2006/relationships" id="257" r:id="R4642243fb147488a"/>
    <p:sldId xmlns:r="http://schemas.openxmlformats.org/officeDocument/2006/relationships" id="258" r:id="R08907082ac744c01"/>
    <p:sldId xmlns:r="http://schemas.openxmlformats.org/officeDocument/2006/relationships" id="259" r:id="Re2150b786c0d4e7e"/>
    <p:sldId xmlns:r="http://schemas.openxmlformats.org/officeDocument/2006/relationships" id="260" r:id="Rafa0eaed008d415d"/>
    <p:sldId xmlns:r="http://schemas.openxmlformats.org/officeDocument/2006/relationships" id="261" r:id="Rca6f80966a0f40d1"/>
    <p:sldId xmlns:r="http://schemas.openxmlformats.org/officeDocument/2006/relationships" id="262" r:id="Rb9ae0acd6bdf4f74"/>
    <p:sldId xmlns:r="http://schemas.openxmlformats.org/officeDocument/2006/relationships" id="263" r:id="R907331c3906a460e"/>
    <p:sldId xmlns:r="http://schemas.openxmlformats.org/officeDocument/2006/relationships" id="264" r:id="R6fa088fb882949a4"/>
    <p:sldId xmlns:r="http://schemas.openxmlformats.org/officeDocument/2006/relationships" id="265" r:id="R06028a76ac5343de"/>
    <p:sldId xmlns:r="http://schemas.openxmlformats.org/officeDocument/2006/relationships" id="266" r:id="Raee2b9ce91674401"/>
    <p:sldId xmlns:r="http://schemas.openxmlformats.org/officeDocument/2006/relationships" id="267" r:id="R8054e5c4034f468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9043a9b7b294af6" /><Relationship Type="http://schemas.openxmlformats.org/officeDocument/2006/relationships/slideMaster" Target="/ppt/slideMasters/slideMaster1.xml" Id="R28efd4a7fdd14de6" /><Relationship Type="http://schemas.openxmlformats.org/officeDocument/2006/relationships/notesMaster" Target="/ppt/notesMasters/notesMaster1.xml" Id="R0e6bc12fd22341b3" /><Relationship Type="http://schemas.openxmlformats.org/officeDocument/2006/relationships/presProps" Target="/ppt/presProps.xml" Id="R2afc6d615fb84de9" /><Relationship Type="http://schemas.openxmlformats.org/officeDocument/2006/relationships/tableStyles" Target="/ppt/tableStyles.xml" Id="R7d4a7726b2b34aac" /><Relationship Type="http://schemas.openxmlformats.org/officeDocument/2006/relationships/slide" Target="/ppt/slides/slide1.xml" Id="Red1da997391c404f" /><Relationship Type="http://schemas.openxmlformats.org/officeDocument/2006/relationships/slide" Target="/ppt/slides/slide2.xml" Id="R4642243fb147488a" /><Relationship Type="http://schemas.openxmlformats.org/officeDocument/2006/relationships/slide" Target="/ppt/slides/slide3.xml" Id="R08907082ac744c01" /><Relationship Type="http://schemas.openxmlformats.org/officeDocument/2006/relationships/slide" Target="/ppt/slides/slide4.xml" Id="Re2150b786c0d4e7e" /><Relationship Type="http://schemas.openxmlformats.org/officeDocument/2006/relationships/slide" Target="/ppt/slides/slide5.xml" Id="Rafa0eaed008d415d" /><Relationship Type="http://schemas.openxmlformats.org/officeDocument/2006/relationships/slide" Target="/ppt/slides/slide6.xml" Id="Rca6f80966a0f40d1" /><Relationship Type="http://schemas.openxmlformats.org/officeDocument/2006/relationships/slide" Target="/ppt/slides/slide7.xml" Id="Rb9ae0acd6bdf4f74" /><Relationship Type="http://schemas.openxmlformats.org/officeDocument/2006/relationships/slide" Target="/ppt/slides/slide8.xml" Id="R907331c3906a460e" /><Relationship Type="http://schemas.openxmlformats.org/officeDocument/2006/relationships/slide" Target="/ppt/slides/slide9.xml" Id="R6fa088fb882949a4" /><Relationship Type="http://schemas.openxmlformats.org/officeDocument/2006/relationships/slide" Target="/ppt/slides/slide10.xml" Id="R06028a76ac5343de" /><Relationship Type="http://schemas.openxmlformats.org/officeDocument/2006/relationships/slide" Target="/ppt/slides/slide11.xml" Id="Raee2b9ce91674401" /><Relationship Type="http://schemas.openxmlformats.org/officeDocument/2006/relationships/slide" Target="/ppt/slides/slide12.xml" Id="R8054e5c4034f468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96533cbf70a41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5ef3b60189c4ebb" /><Relationship Type="http://schemas.openxmlformats.org/officeDocument/2006/relationships/notesMaster" Target="/ppt/notesMasters/notesMaster1.xml" Id="R454b95852c2348a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361e23998b34942" /><Relationship Type="http://schemas.openxmlformats.org/officeDocument/2006/relationships/notesMaster" Target="/ppt/notesMasters/notesMaster1.xml" Id="Rbe48e3eec8e8422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51980e01aa64d64" /><Relationship Type="http://schemas.openxmlformats.org/officeDocument/2006/relationships/notesMaster" Target="/ppt/notesMasters/notesMaster1.xml" Id="Rf96e2bf603a6449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24aae92ed8c45ba" /><Relationship Type="http://schemas.openxmlformats.org/officeDocument/2006/relationships/notesMaster" Target="/ppt/notesMasters/notesMaster1.xml" Id="R047db690a6ec40c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a6960ef2f4d4c0a" /><Relationship Type="http://schemas.openxmlformats.org/officeDocument/2006/relationships/notesMaster" Target="/ppt/notesMasters/notesMaster1.xml" Id="R9806d2d6779e4d0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2ed2da7080e41d9" /><Relationship Type="http://schemas.openxmlformats.org/officeDocument/2006/relationships/notesMaster" Target="/ppt/notesMasters/notesMaster1.xml" Id="R6b06297755304b6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256fc8116fd45eb" /><Relationship Type="http://schemas.openxmlformats.org/officeDocument/2006/relationships/notesMaster" Target="/ppt/notesMasters/notesMaster1.xml" Id="R1814f21f13ee4d8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795d7ba58224e7f" /><Relationship Type="http://schemas.openxmlformats.org/officeDocument/2006/relationships/notesMaster" Target="/ppt/notesMasters/notesMaster1.xml" Id="R5534186db14d41c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e174af19b424bdd" /><Relationship Type="http://schemas.openxmlformats.org/officeDocument/2006/relationships/notesMaster" Target="/ppt/notesMasters/notesMaster1.xml" Id="R1f62a19af3d94c0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eb06c0a19f3445d" /><Relationship Type="http://schemas.openxmlformats.org/officeDocument/2006/relationships/notesMaster" Target="/ppt/notesMasters/notesMaster1.xml" Id="R03cbc89109e04b7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cbeaa9f08c84fc0" /><Relationship Type="http://schemas.openxmlformats.org/officeDocument/2006/relationships/notesMaster" Target="/ppt/notesMasters/notesMaster1.xml" Id="R9018f0b3c3a24f2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c90630cee664c1f" /><Relationship Type="http://schemas.openxmlformats.org/officeDocument/2006/relationships/notesMaster" Target="/ppt/notesMasters/notesMaster1.xml" Id="R0749d72dbba94ad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[Tiempo: 5 min]</a:t>
            </a:r>
          </a:p>
          <a:p xmlns:a="http://schemas.openxmlformats.org/drawingml/2006/main">
            <a:r>
              <a:t>Bienvenida y encuadre. Pregunte por una tarea reciente en la que una IA ahorró tiempo y otra en la que generó dudas. No evaluar herramientas concretas todavía.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[Tiempo: 5 min]</a:t>
            </a:r>
          </a:p>
          <a:p xmlns:a="http://schemas.openxmlformats.org/drawingml/2006/main">
            <a:r>
              <a:t>Explique el contrato de aprendizaje y muestre templates/pvrd_log.csv. Evidencia esperada: entrada completa, no un prompt ‘bonito’.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[Tiempo: 10 min]</a:t>
            </a:r>
          </a:p>
          <a:p xmlns:a="http://schemas.openxmlformats.org/drawingml/2006/main">
            <a:r>
              <a:t>Pida ejemplos del grupo. Clasifique cada ejemplo como transformación, exploración o andamiaje. Evite presentar la IA como buscador o autoridad.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[Tiempo: 8 min]</a:t>
            </a:r>
          </a:p>
          <a:p xmlns:a="http://schemas.openxmlformats.org/drawingml/2006/main">
            <a:r>
              <a:t>Ejemplo oral: un DOI verosímil no es evidencia hasta resolverlo. Fuente: Ji et al., ACM Computing Surveys, DOI 10.1145/3571730.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[Tiempo: 10 min]</a:t>
            </a:r>
          </a:p>
          <a:p xmlns:a="http://schemas.openxmlformats.org/drawingml/2006/main">
            <a:r>
              <a:t>Haga que el grupo reformule una salida de IA como hipótesis comprobable. Conecte con NIST AI 600-1: validar empíricamente afirmaciones, verificar fuentes y documentar límites. Fuente: https://nvlpubs.nist.gov/nistpubs/ai/NIST.AI.600-1.pdf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[Tiempo: 10 min]</a:t>
            </a:r>
          </a:p>
          <a:p xmlns:a="http://schemas.openxmlformats.org/drawingml/2006/main">
            <a:r>
              <a:t>Modele una entrada completa en pvrd_log.csv. Insista: verificar no significa volver a preguntarle al mismo modelo.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[Tiempo: 10 min]</a:t>
            </a:r>
          </a:p>
          <a:p xmlns:a="http://schemas.openxmlformats.org/drawingml/2006/main">
            <a:r>
              <a:t>Trabajo guiado: cada pareja mejora un prompt propio con los cuatro bloques. Compare cambios, no herramientas.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[Tiempo: 30 min]</a:t>
            </a:r>
          </a:p>
          <a:p xmlns:a="http://schemas.openxmlformats.org/drawingml/2006/main">
            <a:r>
              <a:t>Use activities/module_1_claim_audit.md. Solución en instructor/module_1_solution.md. Acepte decisiones distintas si la prueba es adecuada.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[Tiempo: 10 min]</a:t>
            </a:r>
          </a:p>
          <a:p xmlns:a="http://schemas.openxmlformats.org/drawingml/2006/main">
            <a:r>
              <a:t>Debrief de la actividad. Pida una prueba que NO serviría para cada tipo: por ejemplo, una segunda respuesta del modelo no verifica un DOI.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[Tiempo: 8 min]</a:t>
            </a:r>
          </a:p>
          <a:p xmlns:a="http://schemas.openxmlformats.org/drawingml/2006/main">
            <a:r>
              <a:t>Abra docs/tool_policy.md. La alfabetización en IA debe adaptarse al contexto, riesgo y conocimiento. Fuente: Comisión Europea, AI literacy Q&amp;A, https://digital-strategy.ec.europa.eu/en/faqs/ai-literacy-questions-answers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[Tiempo: 7 min]</a:t>
            </a:r>
          </a:p>
          <a:p xmlns:a="http://schemas.openxmlformats.org/drawingml/2006/main">
            <a:r>
              <a:t>Muestre docs/contingency_plan.md. Google indica que los recursos gratuitos de Colab no están garantizados y que Workspace puede restringir el acceso; por eso Colab es opción, no requisito. Fuente: https://research.google.com/colaboratory/faq.html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[Tiempo: 7 min]</a:t>
            </a:r>
          </a:p>
          <a:p xmlns:a="http://schemas.openxmlformats.org/drawingml/2006/main">
            <a:r>
              <a:t>Comprobación individual: 60 segundos para escribir respuesta. Recoja ejemplos. Anticipe el módulo 2: verificar fuentes hasta el pasaje, no solo hasta el título.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db7d1b80574a3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1d9b36d3d844610" /><Relationship Type="http://schemas.openxmlformats.org/officeDocument/2006/relationships/slideLayout" Target="/ppt/slideLayouts/slideLayout1.xml" Id="Rbc493e050af64c3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c493e050af64c3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a9e584d3744feb" /><Relationship Type="http://schemas.openxmlformats.org/officeDocument/2006/relationships/notesSlide" Target="/ppt/notesSlides/notesSlide1.xml" Id="R63a188ecc7b9417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6455e3c2a94eee" /><Relationship Type="http://schemas.openxmlformats.org/officeDocument/2006/relationships/notesSlide" Target="/ppt/notesSlides/notesSlide2.xml" Id="R4c8a99b36de04d5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3aebf538334d28" /><Relationship Type="http://schemas.openxmlformats.org/officeDocument/2006/relationships/notesSlide" Target="/ppt/notesSlides/notesSlide3.xml" Id="Rfb67938e982c4bc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ddedd2b35b4e1f" /><Relationship Type="http://schemas.openxmlformats.org/officeDocument/2006/relationships/notesSlide" Target="/ppt/notesSlides/notesSlide4.xml" Id="Rf5a9d950f6404ef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59c4e005b14914" /><Relationship Type="http://schemas.openxmlformats.org/officeDocument/2006/relationships/notesSlide" Target="/ppt/notesSlides/notesSlide5.xml" Id="Re5c82efe69cc486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b61272c63940e6" /><Relationship Type="http://schemas.openxmlformats.org/officeDocument/2006/relationships/notesSlide" Target="/ppt/notesSlides/notesSlide6.xml" Id="R5561b492693d49c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7282f2ea7d4612" /><Relationship Type="http://schemas.openxmlformats.org/officeDocument/2006/relationships/notesSlide" Target="/ppt/notesSlides/notesSlide7.xml" Id="R2e15387440f2468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966deb02c7483d" /><Relationship Type="http://schemas.openxmlformats.org/officeDocument/2006/relationships/notesSlide" Target="/ppt/notesSlides/notesSlide8.xml" Id="Rfc45d617cf104b2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85d42e12304d26" /><Relationship Type="http://schemas.openxmlformats.org/officeDocument/2006/relationships/notesSlide" Target="/ppt/notesSlides/notesSlide9.xml" Id="R37934be549c5473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998edb66134ba5" /><Relationship Type="http://schemas.openxmlformats.org/officeDocument/2006/relationships/notesSlide" Target="/ppt/notesSlides/notesSlide10.xml" Id="Rf59ad174f9f1412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68d39eee434e72" /><Relationship Type="http://schemas.openxmlformats.org/officeDocument/2006/relationships/notesSlide" Target="/ppt/notesSlides/notesSlide11.xml" Id="R9add6e48d8f5496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4e2dc0cbc44231" /><Relationship Type="http://schemas.openxmlformats.org/officeDocument/2006/relationships/notesSlide" Target="/ppt/notesSlides/notesSlide12.xml" Id="R8b82764d167b4ab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B5A69F-6CF0-41B3-9FD8-A08EB02B1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F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7186E5-3212-4551-9FBF-ECBEBF937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0"/>
            <a:ext cx="3448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6F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2DD176-70A6-4CEF-9573-B3F65ACB6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838200"/>
            <a:ext cx="1905000" cy="1905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2F7D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A02F51-3858-490D-928D-9E22DCEA8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066800"/>
            <a:ext cx="12954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0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540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215910-6F66-431A-A4D4-C1D0D0B5D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E09F3E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 i="0">
                <a:solidFill>
                  <a:srgbClr val="E09F3E"/>
                </a:solidFill>
                <a:latin typeface="Nimbus Sans"/>
                <a:ea typeface="Nimbus Sans"/>
                <a:cs typeface="Nimbus Sans"/>
              </a:rPr>
              <a:t>TALLER EU4M ·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752C83-A4BA-4934-B2AB-CF2ECD44C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7143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360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Usar IA con criterio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C5A0E4-0C93-43A3-9934-A83D22A61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76625"/>
            <a:ext cx="666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D7E3EA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 i="0">
                <a:solidFill>
                  <a:srgbClr val="D7E3EA"/>
                </a:solidFill>
                <a:latin typeface="Nimbus Sans"/>
                <a:ea typeface="Nimbus Sans"/>
                <a:cs typeface="Nimbus Sans"/>
              </a:rPr>
              <a:t>De una respuesta plausible a una evidencia verificable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3B1991-0F22-47B6-84AA-398F3E09D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2 horas · español · presencial · portátil y navegador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6BB8BA-AB66-41BB-993B-C6A763AB7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34075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09F3E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 i="0">
                <a:solidFill>
                  <a:srgbClr val="E09F3E"/>
                </a:solidFill>
                <a:latin typeface="Nimbus Sans"/>
                <a:ea typeface="Nimbus Sans"/>
                <a:cs typeface="Nimbus Sans"/>
              </a:rPr>
              <a:t>Sebastian Rojas-Ordoñez</a:t>
            </a:r>
          </a:p>
        </p:txBody>
      </p:sp>
    </p:spTree>
    <p:extLst>
      <p:ext uri="{BB962C8B-B14F-4D97-AF65-F5344CB8AC3E}">
        <p14:creationId xmlns:p14="http://schemas.microsoft.com/office/powerpoint/2010/main" val="6664266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29DCE3-5E27-4351-837A-D1E75F3E4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F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61A068-2088-4A36-897E-6C40129C8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MÓDULO 1 · USAR IA CON CRITERIO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DB06EC-4B8A-4774-83A9-C0E4A5E95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Resultado de estas dos horas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ED7EC3-DA7C-450E-A039-897A14BB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rPr>
              <a:t>Una práctica común para cualquier herramienta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8E6CFA-31D0-47A5-AB17-66E55B0C5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C67A24-F418-4BFF-9A4A-9B7E14466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defRPr>
            </a:pPr>
            <a:r>
              <a:rPr sz="750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rPr>
              <a:t>EU4M · IA aplicada con verificación ·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40918A-29E2-4163-9716-6AA820FAF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900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FD1A5F-8BD5-41D1-AA24-FC0D3E9E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5219700" cy="1905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F4AA8F-2990-457E-9608-ECB7DA80C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6200" cy="1905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6F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A64517-AE3C-4CE6-B6C1-E8016533C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470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SABER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831771-E2B6-40B4-B807-80DEC66F0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76475"/>
            <a:ext cx="4724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Distinguir utilidad de fiabilidad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C8BAA8-F121-4658-9BA5-E8A17A8F0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4724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La fluidez de una respuesta no garantiza que sus datos, citas, cálculos o supuestos sean correctos.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C7B618-0A00-46C5-9054-EE6351092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90700"/>
            <a:ext cx="5219700" cy="1905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2ABF17-6D3C-415F-9B0A-5B9A10A3D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90700"/>
            <a:ext cx="76200" cy="1905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C5685E-8A24-4D73-9C08-96309B9C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00250"/>
            <a:ext cx="470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F7D6E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2F7D6E"/>
                </a:solidFill>
                <a:latin typeface="Nimbus Sans"/>
                <a:ea typeface="Nimbus Sans"/>
                <a:cs typeface="Nimbus Sans"/>
              </a:rPr>
              <a:t>HACER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0F982B-7CEA-41E5-B0E5-CCDC6CE7D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76475"/>
            <a:ext cx="4724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Aplicar PVRD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208221-2991-476D-B135-6E1375CB5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57500"/>
            <a:ext cx="4724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Prompt → Verificar → Refinar → Documentar. El resultado final incluye evidencia y límites, no solo texto generado.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C06665-74B0-4496-89F2-0F0D82A02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5219700" cy="1905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DFADC0-29AA-4F66-91E9-73EE13D9B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76200" cy="1905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09F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382529-72D0-4D95-A33E-5066E7652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14800"/>
            <a:ext cx="470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E09F3E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E09F3E"/>
                </a:solidFill>
                <a:latin typeface="Nimbus Sans"/>
                <a:ea typeface="Nimbus Sans"/>
                <a:cs typeface="Nimbus Sans"/>
              </a:rPr>
              <a:t>ENTREGAR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C70EA0-4935-4141-B212-9B2904E5D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91025"/>
            <a:ext cx="4724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Primera entrada PVRD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A52615-544D-446C-9292-75879B8FF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72050"/>
            <a:ext cx="4724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Una afirmación, una prueba ejecutada, una decisión y una corrección trazable.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D1B31F-75C4-4F1E-946E-E2CEC0640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05250"/>
            <a:ext cx="5219700" cy="1905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4FBCFC-8AF7-4826-B87C-BE78D72BE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05250"/>
            <a:ext cx="76200" cy="1905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149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853D37-5175-4827-B53B-DC0108D1E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14800"/>
            <a:ext cx="470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C14953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C14953"/>
                </a:solidFill>
                <a:latin typeface="Nimbus Sans"/>
                <a:ea typeface="Nimbus Sans"/>
                <a:cs typeface="Nimbus Sans"/>
              </a:rPr>
              <a:t>CRITERIO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15FB6E-A320-4774-8355-178A74073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391025"/>
            <a:ext cx="4724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Responsabilidad humana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04B424-80AA-4FC3-81B3-97271485F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972050"/>
            <a:ext cx="4724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La persona que usa el resultado decide qué se publica, entrega o conecta a un sistema.</a:t>
            </a:r>
          </a:p>
        </p:txBody>
      </p:sp>
    </p:spTree>
    <p:extLst>
      <p:ext uri="{BB962C8B-B14F-4D97-AF65-F5344CB8AC3E}">
        <p14:creationId xmlns:p14="http://schemas.microsoft.com/office/powerpoint/2010/main" val="16497763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1C39F6-BB44-4182-B599-D340F1E66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F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0AA969-2CA5-4AA0-9DD3-7717AE886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MÓDULO 1 · USAR IA CON CRITERIO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18FDE5-655A-4C19-8669-0EC411763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Qué hace bien un modelo generativo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96FD51-864F-48E4-AEB8-FAF76506D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rPr>
              <a:t>Acelera transformaciones; no aporta garantía automática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78BAD4-8CA8-4E46-BD02-2B23B495A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8985DC-9A68-4DB2-9AFF-00A0A9C37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defRPr>
            </a:pPr>
            <a:r>
              <a:rPr sz="750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rPr>
              <a:t>EU4M · IA aplicada con verificación ·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D6F9CB-EF78-4AD3-BDF8-5F442AF64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900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67CBE1-DA33-41EF-A079-2709F829E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371850" cy="4000500"/>
          </a:xfrm>
          <a:prstGeom xmlns:a="http://schemas.openxmlformats.org/drawingml/2006/main" prst="roundRect">
            <a:avLst>
              <a:gd name="adj" fmla="val 3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294199-FD39-4771-85B5-830627860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400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6F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239525-39FA-4E32-AABC-A282DBAB8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193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TRANSFORMAR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91FA46-F8B6-44A2-B0D7-BFAD65566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95525"/>
            <a:ext cx="287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Borradores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99CD51-5842-4D15-A177-074E45015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287655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Estructura, reformulación, traducción inicial y alternativas. El contenido sigue necesitando revisión.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DAE370-7CB6-495C-9481-B46BC5A64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09750"/>
            <a:ext cx="3371850" cy="4000500"/>
          </a:xfrm>
          <a:prstGeom xmlns:a="http://schemas.openxmlformats.org/drawingml/2006/main" prst="roundRect">
            <a:avLst>
              <a:gd name="adj" fmla="val 3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E6A588-8BB0-44C8-A060-AB4906D96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09750"/>
            <a:ext cx="76200" cy="400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B5F888-769F-4B31-9469-4C8575DEB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0193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F7D6E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2F7D6E"/>
                </a:solidFill>
                <a:latin typeface="Nimbus Sans"/>
                <a:ea typeface="Nimbus Sans"/>
                <a:cs typeface="Nimbus Sans"/>
              </a:rPr>
              <a:t>EXPLORAR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CF69EB-C68C-43DB-B81B-A75B5D514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295525"/>
            <a:ext cx="287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Hipótesis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DB7255-B770-4C7E-8316-39E8D4C9A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76550"/>
            <a:ext cx="287655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Ideas de búsqueda, explicaciones alternativas y preguntas que quizá no se habían considerado.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E07401-EE9E-448B-89BF-958A2546E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09750"/>
            <a:ext cx="3371850" cy="4000500"/>
          </a:xfrm>
          <a:prstGeom xmlns:a="http://schemas.openxmlformats.org/drawingml/2006/main" prst="roundRect">
            <a:avLst>
              <a:gd name="adj" fmla="val 3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6B9D07-0100-4398-BDCC-D20C833D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09750"/>
            <a:ext cx="76200" cy="400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09F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83C0CC-5B98-4ACD-8A80-2DF3676DA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193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E09F3E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E09F3E"/>
                </a:solidFill>
                <a:latin typeface="Nimbus Sans"/>
                <a:ea typeface="Nimbus Sans"/>
                <a:cs typeface="Nimbus Sans"/>
              </a:rPr>
              <a:t>PROGRAMAR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F6D264-67F4-4004-A301-5538EE360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95525"/>
            <a:ext cx="287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Andamiaje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E33C10-82C8-4662-A33F-7AB0DB44A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76550"/>
            <a:ext cx="287655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Código inicial, tests propuestos y explicación. Debe ejecutarse en el entorno objetivo.</a:t>
            </a:r>
          </a:p>
        </p:txBody>
      </p:sp>
    </p:spTree>
    <p:extLst>
      <p:ext uri="{BB962C8B-B14F-4D97-AF65-F5344CB8AC3E}">
        <p14:creationId xmlns:p14="http://schemas.microsoft.com/office/powerpoint/2010/main" val="10580323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DD9EAC-FA21-4DD7-A07F-680092334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F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60DBA6-6B77-477B-AEF0-1E0D628C5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MÓDULO 1 · USAR IA CON CRITERIO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3637D8-64F0-4FB7-81B0-4425C2E07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Dónde se rompe la confianza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A5167A-127C-4C93-8A69-785AFD08E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rPr>
              <a:t>Cuatro riesgos observables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37E3A7-8B07-42E9-B31F-84A75CBF6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597EA7-4C66-46F1-B4BB-267641CA6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defRPr>
            </a:pPr>
            <a:r>
              <a:rPr sz="750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rPr>
              <a:t>EU4M · IA aplicada con verificación ·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0B62E2-EA9B-4905-BA42-E1889B6A2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900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D0F701-0D25-4127-8E66-A4B0AB560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5219700" cy="1905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D7C6E4-C606-4657-B2F2-AB27A5451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6200" cy="1905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6F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057B12-C056-486A-8FC6-A79346EB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470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FUENTE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9D4046-5BF1-484B-9750-833FECE21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76475"/>
            <a:ext cx="4724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Cita inventada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F1E9CD-3802-450B-8D34-B86623F23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4724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Autor, título o DOI pueden parecer correctos y no existir.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B1C59B-95CA-4D0C-9729-681A555C3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90700"/>
            <a:ext cx="5219700" cy="1905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1957D8-B008-4A74-8FA0-E455AE11A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90700"/>
            <a:ext cx="76200" cy="1905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7D31CD-607D-4345-B121-934AF4332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00250"/>
            <a:ext cx="470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F7D6E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2F7D6E"/>
                </a:solidFill>
                <a:latin typeface="Nimbus Sans"/>
                <a:ea typeface="Nimbus Sans"/>
                <a:cs typeface="Nimbus Sans"/>
              </a:rPr>
              <a:t>DATO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C7C165-328B-4D68-B37E-AAB76769D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76475"/>
            <a:ext cx="4724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Cifra sin contexto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580120-28D7-4E38-BACE-A364651CF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57500"/>
            <a:ext cx="4724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Unidad, población, fecha o denominador pueden desaparecer.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5DF406-9760-4236-832E-B1C7F487F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5219700" cy="1905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409CA4-C970-47D5-B392-FC9370D8D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76200" cy="1905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09F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5811D7-86E1-4261-8116-F5BB9FB7C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14800"/>
            <a:ext cx="470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E09F3E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E09F3E"/>
                </a:solidFill>
                <a:latin typeface="Nimbus Sans"/>
                <a:ea typeface="Nimbus Sans"/>
                <a:cs typeface="Nimbus Sans"/>
              </a:rPr>
              <a:t>CÓDIGO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77C645-46D2-4A6C-A23B-585A5CD1E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91025"/>
            <a:ext cx="4724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Éxito aparente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62E5AD-CFA6-45B3-BD17-1EE5B15B8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72050"/>
            <a:ext cx="4724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Un script puede ejecutar y aun responder otra pregunta o filtrar datos.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9D9F6E-4AA9-4BC6-BF0D-B3E55FA76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05250"/>
            <a:ext cx="5219700" cy="1905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2E0093-2D2F-4BCE-B3AF-5932F6A4D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05250"/>
            <a:ext cx="76200" cy="1905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149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241B5B-85C4-445B-8FA2-F69172A68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14800"/>
            <a:ext cx="470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C14953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C14953"/>
                </a:solidFill>
                <a:latin typeface="Nimbus Sans"/>
                <a:ea typeface="Nimbus Sans"/>
                <a:cs typeface="Nimbus Sans"/>
              </a:rPr>
              <a:t>PRIVACIDAD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E28635-98F8-4B62-A93E-DB80A3CD4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391025"/>
            <a:ext cx="4724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Entrada indebida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E957D5-59C3-4B42-BB57-D0DAA99D7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972050"/>
            <a:ext cx="4724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Datos personales, inéditos o contractuales no deben copiarse sin autorización.</a:t>
            </a:r>
          </a:p>
        </p:txBody>
      </p:sp>
    </p:spTree>
    <p:extLst>
      <p:ext uri="{BB962C8B-B14F-4D97-AF65-F5344CB8AC3E}">
        <p14:creationId xmlns:p14="http://schemas.microsoft.com/office/powerpoint/2010/main" val="6833151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D957E6-0545-4C40-BE5B-A13A9A412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F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AED463-9505-4CE7-A261-92A25F74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MÓDULO 1 · USAR IA CON CRITERIO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F2D575-5FAC-4A6E-B568-84C44CF03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La regla central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5918DA-EDAA-4F12-BF49-51CE77723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6A1F64-FA10-46A3-9AA0-A1CEF8B57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defRPr>
            </a:pPr>
            <a:r>
              <a:rPr sz="750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rPr>
              <a:t>EU4M · IA aplicada con verificación ·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8C8D90-3FEA-4700-BA4E-AB3C909AB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900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CF48D0-6B9C-42A6-BEFF-28CBABC9C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95500"/>
            <a:ext cx="9144000" cy="2952750"/>
          </a:xfrm>
          <a:prstGeom xmlns:a="http://schemas.openxmlformats.org/drawingml/2006/main" prst="roundRect">
            <a:avLst>
              <a:gd name="adj" fmla="val 5806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8560E9-49D6-4254-A805-A21176333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190750"/>
            <a:ext cx="857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1" i="0">
                <a:solidFill>
                  <a:srgbClr val="E09F3E"/>
                </a:solidFill>
                <a:latin typeface="Nimbus Sans"/>
                <a:ea typeface="Nimbus Sans"/>
                <a:cs typeface="Nimbus Sans"/>
              </a:defRPr>
            </a:pPr>
            <a:r>
              <a:rPr sz="5400" b="1" i="0">
                <a:solidFill>
                  <a:srgbClr val="E09F3E"/>
                </a:solidFill>
                <a:latin typeface="Nimbus Sans"/>
                <a:ea typeface="Nimbus Sans"/>
                <a:cs typeface="Nimbus Sans"/>
              </a:rPr>
              <a:t>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FA05D8-E61C-4AE2-8C68-D3EF8B023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647950"/>
            <a:ext cx="70008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325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La IA propone. La evidencia decide.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D66672-B57E-4F4A-B40A-947539E17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257675"/>
            <a:ext cx="676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C9D9E3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 i="0">
                <a:solidFill>
                  <a:srgbClr val="C9D9E3"/>
                </a:solidFill>
                <a:latin typeface="Nimbus Sans"/>
                <a:ea typeface="Nimbus Sans"/>
                <a:cs typeface="Nimbus Sans"/>
              </a:rPr>
              <a:t>Una salida útil puede seguir siendo falsa, incompleta o inadecuada para el contexto.</a:t>
            </a:r>
          </a:p>
        </p:txBody>
      </p:sp>
    </p:spTree>
    <p:extLst>
      <p:ext uri="{BB962C8B-B14F-4D97-AF65-F5344CB8AC3E}">
        <p14:creationId xmlns:p14="http://schemas.microsoft.com/office/powerpoint/2010/main" val="17639224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9D0299-368E-40BE-8EFE-8F35BA2E3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F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1189DC-C105-4D11-8CDA-ED1823D40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MÓDULO 1 · USAR IA CON CRITERIO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517936-DD5C-41EB-A50D-281B3615E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PVRD: el ciclo de trabajo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CB7E11-00B3-4B5E-8D98-4CC494278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rPr>
              <a:t>Cuatro verbos, una trazabilidad mínima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8E3F55-12BA-4EB0-9B18-72EFC2D40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5B64B1-32CD-41C8-BB2F-E7C878471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defRPr>
            </a:pPr>
            <a:r>
              <a:rPr sz="750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rPr>
              <a:t>EU4M · IA aplicada con verificación ·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F3705D-3453-4F4F-B154-C28380E39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900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86AE3C-6DD1-4D89-809C-0F67FA69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5219700" cy="1905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203F48-13C2-42D2-AE08-D6D14C6E8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6200" cy="1905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6F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A9C6C3-1C58-4BB3-953D-4F3053489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470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6BAE88-4F84-4D0F-8A70-595390566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76475"/>
            <a:ext cx="4724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Prompt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F65073-4EB2-4AD4-B319-CDFCC5194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4724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Propósito, contexto permitido, formato y criterio de aceptación.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55EC75-A6B1-4E64-8B91-87C7894D5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90700"/>
            <a:ext cx="5219700" cy="1905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91093E-30F1-4F3C-9DA8-B52DA97BB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90700"/>
            <a:ext cx="76200" cy="1905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B407DE-56E8-4B0A-BCE4-50FACDEC5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00250"/>
            <a:ext cx="470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F7D6E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2F7D6E"/>
                </a:solidFill>
                <a:latin typeface="Nimbus Sans"/>
                <a:ea typeface="Nimbus Sans"/>
                <a:cs typeface="Nimbus Sans"/>
              </a:rPr>
              <a:t>V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E919B2-EA89-4E19-A908-CE55B7DD2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76475"/>
            <a:ext cx="4724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Verificar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3058E8-783F-431A-A0F5-7C1555EDD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57500"/>
            <a:ext cx="4724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Localizar la afirmación de riesgo y ejecutar una prueba independiente.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015FE6-1BBF-4A2A-9D91-85813649C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5219700" cy="1905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871204-4660-44A3-B440-D913871A3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76200" cy="1905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09F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D59EE6-6201-4F3D-A254-302387EF8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14800"/>
            <a:ext cx="470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E09F3E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E09F3E"/>
                </a:solidFill>
                <a:latin typeface="Nimbus Sans"/>
                <a:ea typeface="Nimbus Sans"/>
                <a:cs typeface="Nimbus Sans"/>
              </a:rPr>
              <a:t>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54AAFB-6BCE-45BA-B4CA-0E493B333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91025"/>
            <a:ext cx="4724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Refinar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2F90B2-1393-4542-9C13-C4779FBC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72050"/>
            <a:ext cx="4724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Corregir, acotar o rechazar según la evidencia; volver a probar.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41D7F9-631F-45F5-B0B5-8A3C272A6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05250"/>
            <a:ext cx="5219700" cy="1905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35B726-0E99-4538-A6D1-981FD3B9F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05250"/>
            <a:ext cx="76200" cy="1905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149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0B1DF7-EA15-47D2-8AB3-F9D34A8C0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14800"/>
            <a:ext cx="470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C14953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C14953"/>
                </a:solidFill>
                <a:latin typeface="Nimbus Sans"/>
                <a:ea typeface="Nimbus Sans"/>
                <a:cs typeface="Nimbus Sans"/>
              </a:rPr>
              <a:t>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51F05C-429D-4EDC-B34D-A5477BED1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391025"/>
            <a:ext cx="4724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Documentar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219226-2314-46A0-861D-B905BAC7E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972050"/>
            <a:ext cx="4724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Guardar prompt, prueba, decisión, cambios y límite restante.</a:t>
            </a:r>
          </a:p>
        </p:txBody>
      </p:sp>
    </p:spTree>
    <p:extLst>
      <p:ext uri="{BB962C8B-B14F-4D97-AF65-F5344CB8AC3E}">
        <p14:creationId xmlns:p14="http://schemas.microsoft.com/office/powerpoint/2010/main" val="7710737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0DA974-2725-4D02-B3E2-03242E05E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F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DB8EF8-6F2C-44DC-B45D-6E9304EAB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MÓDULO 1 · USAR IA CON CRITERIO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96F965-ED51-4C44-A57C-C236AA74E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Un prompt que se puede evaluar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B9DA3-F05B-4C25-8C3B-706EC9F9C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rPr>
              <a:t>La precisión comienza antes de generar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9A39BC-F814-4F70-82EA-8C5009F51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78B878-49B6-40AB-B9A2-7108B26AC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defRPr>
            </a:pPr>
            <a:r>
              <a:rPr sz="750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rPr>
              <a:t>EU4M · IA aplicada con verificación ·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567F93-C6D9-42B5-A9F1-3E5EED87C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900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ED6675-D845-4919-9B70-2B5801B91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5219700" cy="1905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2416D1-CA8B-4230-B9F0-F0691ADC0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6200" cy="1905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6F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E1743B-8F35-4992-A3CF-1CF9B5AC6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470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PROPÓSITO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B39541-D072-4CF6-BEA4-51D2DA77A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76475"/>
            <a:ext cx="4724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Qué decisión apoya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E0888D-319F-4B65-8A77-833DAE2EC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4724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‘Necesito comparar dos estrategias de control para elegir una prueba de laboratorio’.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5832F2-78D1-4588-AE2B-89CB44C1C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90700"/>
            <a:ext cx="5219700" cy="1905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1EBF6A-1F69-4956-855F-DCDBA8EF7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90700"/>
            <a:ext cx="76200" cy="1905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42CEBF-B707-4458-B205-3450C0FF7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00250"/>
            <a:ext cx="470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F7D6E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2F7D6E"/>
                </a:solidFill>
                <a:latin typeface="Nimbus Sans"/>
                <a:ea typeface="Nimbus Sans"/>
                <a:cs typeface="Nimbus Sans"/>
              </a:rPr>
              <a:t>CONTEXTO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5D12B4-833C-445E-9256-4B75DD04B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76475"/>
            <a:ext cx="4724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Qué puede usar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A9912E-AEA3-4049-A5D1-C6AE63F0B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57500"/>
            <a:ext cx="4724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Datos, audiencia, restricciones y términos que no debe asumir.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D2BA1C-5A95-430E-AD2C-4B23326F2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5219700" cy="1905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615A84-4F7D-4BA1-A55D-54B8E21C7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76200" cy="1905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09F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78ED26-0C4F-439F-AE39-AC840A23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14800"/>
            <a:ext cx="470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E09F3E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E09F3E"/>
                </a:solidFill>
                <a:latin typeface="Nimbus Sans"/>
                <a:ea typeface="Nimbus Sans"/>
                <a:cs typeface="Nimbus Sans"/>
              </a:rPr>
              <a:t>SALIDA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9761A7-76B9-426B-8D50-BCE7629BD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91025"/>
            <a:ext cx="4724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Cómo debe responder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507963-086B-4B87-B8F7-7B0521ADC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72050"/>
            <a:ext cx="4724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Tabla, código, resumen, idioma, longitud y campos obligatorios.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47518C-85A7-4F00-879F-C1624CF7B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05250"/>
            <a:ext cx="5219700" cy="1905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BF85B0-B71A-4FE2-B934-8B6006950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05250"/>
            <a:ext cx="76200" cy="1905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149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12A79A-79FC-4B18-BF1C-EF78C230D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14800"/>
            <a:ext cx="470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C14953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C14953"/>
                </a:solidFill>
                <a:latin typeface="Nimbus Sans"/>
                <a:ea typeface="Nimbus Sans"/>
                <a:cs typeface="Nimbus Sans"/>
              </a:rPr>
              <a:t>ACEPTACIÓN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35D30E-B9DA-4D53-8E96-D944FC1CB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391025"/>
            <a:ext cx="4724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Qué cuenta como correcto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C6AA1D-16D6-47CF-A100-BC35B2B31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972050"/>
            <a:ext cx="4724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Fuentes resolubles, unidades, tests y límites explícitos.</a:t>
            </a:r>
          </a:p>
        </p:txBody>
      </p:sp>
    </p:spTree>
    <p:extLst>
      <p:ext uri="{BB962C8B-B14F-4D97-AF65-F5344CB8AC3E}">
        <p14:creationId xmlns:p14="http://schemas.microsoft.com/office/powerpoint/2010/main" val="5759036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FD96FA-FAD8-4486-A161-C262FF0AC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F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44D82D-AB6F-49D4-AF00-F08D33A11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MÓDULO 1 · USAR IA CON CRITERIO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5E8875-17A4-48B9-B311-9014084BC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Actividad · Auditoría de una respuesta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9D43FA-ECE5-46B9-A2B1-4D385B588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rPr>
              <a:t>No corrija por intuición: produzca una prueba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F7CBB7-FF6F-4A83-AD54-C8E2AD965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1586EE-736D-4397-9CF4-38A60BDDC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defRPr>
            </a:pPr>
            <a:r>
              <a:rPr sz="750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rPr>
              <a:t>EU4M · IA aplicada con verificación ·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A67022-6249-4C68-8C03-41D2CA81B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900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701079-C4AE-4B4F-BF9F-B1B39F37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239000" cy="4000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A14208-9224-42F8-B81C-C2F4490BB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14550"/>
            <a:ext cx="6572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875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Elija la afirmación con mayor coste si fuera falsa.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B47BEC-1830-469A-845A-E920418BF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6F9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711C9E-16CD-4746-9D25-32BB000AB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19450"/>
            <a:ext cx="585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Subraye la afirmación y clasifique el riesgo.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234891-1C66-4C6B-8E77-1FDCA3984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2905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6F9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358E9A-A5D3-4C36-84EE-C5AA1A4F7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29050"/>
            <a:ext cx="585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Defina una comprobación independiente y ejecútela.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809FC1-757E-4F0A-90FF-B7FFDB62E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3865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6F9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B51D48-A97C-4107-B7A4-A341DBD0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38650"/>
            <a:ext cx="585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Decida: aceptar, modificar o rechazar.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9D4FB2-35CE-4B38-986F-F8B4C931B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4825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6F9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CC6BB9-357F-420E-BAC3-E1D33BB1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48250"/>
            <a:ext cx="585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Registre el límite que todavía permanece.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071034-E6DE-4A02-A45E-516033A4E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809750"/>
            <a:ext cx="3257550" cy="4000500"/>
          </a:xfrm>
          <a:prstGeom xmlns:a="http://schemas.openxmlformats.org/drawingml/2006/main" prst="roundRect">
            <a:avLst>
              <a:gd name="adj" fmla="val 4678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D13E4E-6458-4E14-9F9B-51383B544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33600"/>
            <a:ext cx="24193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300" b="1" i="0">
                <a:solidFill>
                  <a:srgbClr val="E09F3E"/>
                </a:solidFill>
                <a:latin typeface="Nimbus Sans"/>
                <a:ea typeface="Nimbus Sans"/>
                <a:cs typeface="Nimbus Sans"/>
              </a:defRPr>
            </a:pPr>
            <a:r>
              <a:rPr sz="3300" b="1" i="0">
                <a:solidFill>
                  <a:srgbClr val="E09F3E"/>
                </a:solidFill>
                <a:latin typeface="Nimbus Sans"/>
                <a:ea typeface="Nimbus Sans"/>
                <a:cs typeface="Nimbus Sans"/>
              </a:rPr>
              <a:t>30 min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BC98DE-DB27-4284-9C4A-749B9E088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90875"/>
            <a:ext cx="24955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1 entrada completa en templates/pvrd_log.csv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20EA52-148E-4478-AE55-5F9AECFD6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095875"/>
            <a:ext cx="2495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C9D9E3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C9D9E3"/>
                </a:solidFill>
                <a:latin typeface="Nimbus Sans"/>
                <a:ea typeface="Nimbus Sans"/>
                <a:cs typeface="Nimbus Sans"/>
              </a:rPr>
              <a:t>INDIVIDUAL → PAREJA</a:t>
            </a:r>
          </a:p>
        </p:txBody>
      </p:sp>
    </p:spTree>
    <p:extLst>
      <p:ext uri="{BB962C8B-B14F-4D97-AF65-F5344CB8AC3E}">
        <p14:creationId xmlns:p14="http://schemas.microsoft.com/office/powerpoint/2010/main" val="3987653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D149DA-4646-4B51-80B3-4F15BDD6A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F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FD8E9C-B027-42E0-81F8-CBD449F0C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MÓDULO 1 · USAR IA CON CRITERIO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C3681A-7FE3-4005-B038-3B6C84469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¿Qué prueba corresponde a qué afirmación?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69AF05-6874-4E02-B9A1-A4A649289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rPr>
              <a:t>Una verificación útil es específica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4473E2-C0B8-48D1-B2D4-E66ABA92F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B75693-E70F-4B3F-BC28-00E19E0CD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defRPr>
            </a:pPr>
            <a:r>
              <a:rPr sz="750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rPr>
              <a:t>EU4M · IA aplicada con verificación ·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E07140-B20A-43B8-A926-C967AEF62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900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4B3058-2584-4DA2-BC38-0B313530D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5219700" cy="1905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7EE8C8-CCFF-4223-BE63-031C35D56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6200" cy="1905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6F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1ACA15-9E06-4DC0-9E36-0D85B195B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470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CITA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CDCD95-958F-48F0-BE27-DCE63609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76475"/>
            <a:ext cx="4724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Resolver y comparar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BEF3E5-8D23-4D0D-AF93-C8D78C9A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4724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DOI/editorial → metadatos → pasaje → afirmación.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9C8562-98F1-4279-9B56-9CE031FFF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90700"/>
            <a:ext cx="5219700" cy="1905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3A3E07-F64F-446F-84E2-15612BC05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90700"/>
            <a:ext cx="76200" cy="1905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2ED5C7-6FC1-4AEA-AAC4-A4928B6E8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00250"/>
            <a:ext cx="470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F7D6E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2F7D6E"/>
                </a:solidFill>
                <a:latin typeface="Nimbus Sans"/>
                <a:ea typeface="Nimbus Sans"/>
                <a:cs typeface="Nimbus Sans"/>
              </a:rPr>
              <a:t>CIFRA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FE613C-5387-4A23-9F96-AA5476352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76475"/>
            <a:ext cx="4724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Recalcular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065085-F2FE-41AA-8B90-85A34DBCF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57500"/>
            <a:ext cx="4724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Fuente original → unidad → denominador → fecha → operación.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1A96FC-5FB5-46E4-986C-C3DA1B809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5219700" cy="1905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337181-9F0B-4D83-9779-31B2B50FB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76200" cy="1905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09F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1725B7-4762-40B9-9CE6-D02A097D2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14800"/>
            <a:ext cx="470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E09F3E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E09F3E"/>
                </a:solidFill>
                <a:latin typeface="Nimbus Sans"/>
                <a:ea typeface="Nimbus Sans"/>
                <a:cs typeface="Nimbus Sans"/>
              </a:rPr>
              <a:t>CÓDIGO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202AD1-42A7-4BAA-99DC-B9949EAD7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91025"/>
            <a:ext cx="4724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Ejecutar tests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56DAD6-8918-41B3-8957-BFEC4D73B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72050"/>
            <a:ext cx="4724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Caso nominal, borde, error esperado y revisión de supuestos.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CFD54F-ECD6-41DC-8119-708E0E61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05250"/>
            <a:ext cx="5219700" cy="1905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E5FC3F-90B5-48C6-93E6-D7236C754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05250"/>
            <a:ext cx="76200" cy="1905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149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8479B0-8B15-4410-A773-DC46254E3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14800"/>
            <a:ext cx="470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C14953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C14953"/>
                </a:solidFill>
                <a:latin typeface="Nimbus Sans"/>
                <a:ea typeface="Nimbus Sans"/>
                <a:cs typeface="Nimbus Sans"/>
              </a:rPr>
              <a:t>INTERPRETACIÓN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FBC339-9C20-40D3-9511-BDDAB05D5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391025"/>
            <a:ext cx="4724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Buscar falsación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3E9364-CD0A-4065-A066-B7670F2EE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972050"/>
            <a:ext cx="4724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Hipótesis alternativa, dato ausente y prueba siguiente.</a:t>
            </a:r>
          </a:p>
        </p:txBody>
      </p:sp>
    </p:spTree>
    <p:extLst>
      <p:ext uri="{BB962C8B-B14F-4D97-AF65-F5344CB8AC3E}">
        <p14:creationId xmlns:p14="http://schemas.microsoft.com/office/powerpoint/2010/main" val="83433882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231BE7-CC56-4B8B-98CB-792604F32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F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89D460-3ADB-4E8C-929C-007276907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MÓDULO 1 · USAR IA CON CRITERIO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FB75A8-B718-42F9-ADB2-25AFEBB11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Datos, privacidad y acceso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8B6728-FEEA-4838-A87A-331415E0E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rPr>
              <a:t>La política del curso cabe en tres preguntas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1672CE-4B5F-4621-A242-852525C6F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601EB7-F80D-4132-8B6F-EA83D06A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defRPr>
            </a:pPr>
            <a:r>
              <a:rPr sz="750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rPr>
              <a:t>EU4M · IA aplicada con verificación ·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282596-BDE7-4BCC-8154-0C4ECC32F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900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5DD8DE-71B7-4206-A7B9-0B6E9B95B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371850" cy="4000500"/>
          </a:xfrm>
          <a:prstGeom xmlns:a="http://schemas.openxmlformats.org/drawingml/2006/main" prst="roundRect">
            <a:avLst>
              <a:gd name="adj" fmla="val 3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453BA3-2243-4514-94A6-CF9A82AE4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400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6F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2FBFF1-CC6D-404D-898E-37815FD9E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193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ANTES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BE1A01-15DF-477F-A1EE-D00B731B9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95525"/>
            <a:ext cx="287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¿Puedo compartirlo?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FE4F89-C3CE-46E8-B3BA-1B2969A2E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287655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No introduzca datos personales, exámenes, resultados inéditos, claves o material contractual sin permiso.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4D29E0-1D30-4601-8634-5C91065D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09750"/>
            <a:ext cx="3371850" cy="4000500"/>
          </a:xfrm>
          <a:prstGeom xmlns:a="http://schemas.openxmlformats.org/drawingml/2006/main" prst="roundRect">
            <a:avLst>
              <a:gd name="adj" fmla="val 3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AECC82-560E-4E85-9CD7-EABEBDF27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09750"/>
            <a:ext cx="76200" cy="400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FBDEBA-60F7-4283-9794-CD43AC7B3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0193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F7D6E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2F7D6E"/>
                </a:solidFill>
                <a:latin typeface="Nimbus Sans"/>
                <a:ea typeface="Nimbus Sans"/>
                <a:cs typeface="Nimbus Sans"/>
              </a:rPr>
              <a:t>DURANTE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1F4A2A-ACC7-4C88-B29B-1C778ACAB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295525"/>
            <a:ext cx="287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¿Puedo comprobarlo?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EA51E2-FC8C-4BA2-9356-A92C8AEA8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76550"/>
            <a:ext cx="287655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Si no hay acceso a fuentes o entorno de ejecución, reduzca el alcance de la tarea.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1A4B5D-7DD4-4281-B8A5-8A40153AD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09750"/>
            <a:ext cx="3371850" cy="4000500"/>
          </a:xfrm>
          <a:prstGeom xmlns:a="http://schemas.openxmlformats.org/drawingml/2006/main" prst="roundRect">
            <a:avLst>
              <a:gd name="adj" fmla="val 3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EADBB0-8415-4930-85E1-9F89DDF25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09750"/>
            <a:ext cx="76200" cy="400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09F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ABDFD7-D96D-4B5D-95E6-510E48448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193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E09F3E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E09F3E"/>
                </a:solidFill>
                <a:latin typeface="Nimbus Sans"/>
                <a:ea typeface="Nimbus Sans"/>
                <a:cs typeface="Nimbus Sans"/>
              </a:rPr>
              <a:t>DESPUÉS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75AEDF-3395-498C-AD8A-94C1466E8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95525"/>
            <a:ext cx="287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¿Puedo explicarlo?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BD2037-08D0-4EBA-9217-610C2735C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76550"/>
            <a:ext cx="287655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Conserve una declaración de uso y asuma la revisión final.</a:t>
            </a:r>
          </a:p>
        </p:txBody>
      </p:sp>
    </p:spTree>
    <p:extLst>
      <p:ext uri="{BB962C8B-B14F-4D97-AF65-F5344CB8AC3E}">
        <p14:creationId xmlns:p14="http://schemas.microsoft.com/office/powerpoint/2010/main" val="60902784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3FA34B-D7F7-4298-B779-EC6B20606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F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60D7DB-6491-4A12-9B1B-88BE31571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MÓDULO 1 · USAR IA CON CRITERIO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43164E-D15A-4A42-B506-FAB549020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Si la herramienta falla, el aprendizaje continúa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765250-E3A5-4868-9F01-724DDFBCE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rPr>
              <a:t>Diseño sin dependencia de una marca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EB1018-9BAC-452B-B348-5947E4F49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BC1A8C-41F8-4072-AFD1-29651DA3D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defRPr>
            </a:pPr>
            <a:r>
              <a:rPr sz="750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rPr>
              <a:t>EU4M · IA aplicada con verificación ·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BFB415-0ED9-4BAF-9946-C22A9CDA8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900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B07F8B-9EA1-4F82-88AF-6C3DEB688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371850" cy="4000500"/>
          </a:xfrm>
          <a:prstGeom xmlns:a="http://schemas.openxmlformats.org/drawingml/2006/main" prst="roundRect">
            <a:avLst>
              <a:gd name="adj" fmla="val 3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10771A-A332-4193-AF87-D27BD532F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400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6F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105DDC-D4B7-4779-86B8-02D3BF6FF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193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SIN CUENTA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05A12B-1A12-458B-88AF-D3D162361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95525"/>
            <a:ext cx="287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Respuesta impresa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0CC729-9B86-48DC-8C83-5D76F5D34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287655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Auditar el ejemplo facilitado y registrar la verificación.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8F8781-E41A-4310-AF9A-DAD48D8AD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09750"/>
            <a:ext cx="3371850" cy="4000500"/>
          </a:xfrm>
          <a:prstGeom xmlns:a="http://schemas.openxmlformats.org/drawingml/2006/main" prst="roundRect">
            <a:avLst>
              <a:gd name="adj" fmla="val 3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0C723F-039B-4C8C-83CC-DC1072947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09750"/>
            <a:ext cx="76200" cy="400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397AFE-9E88-461B-8C36-4A592FF66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0193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F7D6E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2F7D6E"/>
                </a:solidFill>
                <a:latin typeface="Nimbus Sans"/>
                <a:ea typeface="Nimbus Sans"/>
                <a:cs typeface="Nimbus Sans"/>
              </a:rPr>
              <a:t>SIN INTERNET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097F24-95AE-44A6-AFDC-CA74BD2EA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295525"/>
            <a:ext cx="287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Paquete local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9F2431-A433-4F5C-9FA8-073CDCE17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76550"/>
            <a:ext cx="287655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Datos, fuentes clave, notebook y plantillas descargados previamente.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FEE9DC-6097-462F-BAE4-1E4059FFF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09750"/>
            <a:ext cx="3371850" cy="4000500"/>
          </a:xfrm>
          <a:prstGeom xmlns:a="http://schemas.openxmlformats.org/drawingml/2006/main" prst="roundRect">
            <a:avLst>
              <a:gd name="adj" fmla="val 3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5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1F8AFD-6635-4422-AEFA-9C6B6A09D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09750"/>
            <a:ext cx="76200" cy="400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09F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636F9C-0CB1-410C-9725-6FF8CF19D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193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E09F3E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E09F3E"/>
                </a:solidFill>
                <a:latin typeface="Nimbus Sans"/>
                <a:ea typeface="Nimbus Sans"/>
                <a:cs typeface="Nimbus Sans"/>
              </a:rPr>
              <a:t>SIN COLAB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1179C4-61A3-4C02-8012-7450D0073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95525"/>
            <a:ext cx="287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Jupyter local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224E24-A498-4F53-8BA5-3B9211FAA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76550"/>
            <a:ext cx="287655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7232D"/>
                </a:solidFill>
                <a:latin typeface="Nimbus Sans"/>
                <a:ea typeface="Nimbus Sans"/>
                <a:cs typeface="Nimbus Sans"/>
              </a:rPr>
              <a:t>El mismo repositorio se ejecuta con Python 3.10+ y requirements.txt.</a:t>
            </a:r>
          </a:p>
        </p:txBody>
      </p:sp>
    </p:spTree>
    <p:extLst>
      <p:ext uri="{BB962C8B-B14F-4D97-AF65-F5344CB8AC3E}">
        <p14:creationId xmlns:p14="http://schemas.microsoft.com/office/powerpoint/2010/main" val="117296630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85C2DC-6D91-4409-8AFF-979A7A252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F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A988AE-84A8-4568-997B-89072C95A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MÓDULO 1 · USAR IA CON CRITERIO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9A6A85-DB9E-4A78-81D8-53FA00934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0B1F33"/>
                </a:solidFill>
                <a:latin typeface="Nimbus Sans"/>
                <a:ea typeface="Nimbus Sans"/>
                <a:cs typeface="Nimbus Sans"/>
              </a:rPr>
              <a:t>Cierre del módulo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4958D2-E505-439C-A4A4-EAD631D7D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C8E72B-2E9D-4C41-A391-0AD656A0D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defRPr>
            </a:pPr>
            <a:r>
              <a:rPr sz="750" b="0" i="0">
                <a:solidFill>
                  <a:srgbClr val="5B6872"/>
                </a:solidFill>
                <a:latin typeface="Nimbus Sans"/>
                <a:ea typeface="Nimbus Sans"/>
                <a:cs typeface="Nimbus Sans"/>
              </a:rPr>
              <a:t>EU4M · IA aplicada con verificación ·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C955BC-1879-4A9B-98DB-627C745B3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4008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defRPr>
            </a:pPr>
            <a:r>
              <a:rPr sz="900" b="1" i="0">
                <a:solidFill>
                  <a:srgbClr val="2A6F97"/>
                </a:solidFill>
                <a:latin typeface="Nimbus Sans"/>
                <a:ea typeface="Nimbus Sans"/>
                <a:cs typeface="Nimbus Sans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4F72C1-7875-4C20-8A40-F3E187098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95500"/>
            <a:ext cx="9144000" cy="2952750"/>
          </a:xfrm>
          <a:prstGeom xmlns:a="http://schemas.openxmlformats.org/drawingml/2006/main" prst="roundRect">
            <a:avLst>
              <a:gd name="adj" fmla="val 5806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F82202-3E2F-4686-A2B8-967893C84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190750"/>
            <a:ext cx="857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1" i="0">
                <a:solidFill>
                  <a:srgbClr val="E09F3E"/>
                </a:solidFill>
                <a:latin typeface="Nimbus Sans"/>
                <a:ea typeface="Nimbus Sans"/>
                <a:cs typeface="Nimbus Sans"/>
              </a:defRPr>
            </a:pPr>
            <a:r>
              <a:rPr sz="5400" b="1" i="0">
                <a:solidFill>
                  <a:srgbClr val="E09F3E"/>
                </a:solidFill>
                <a:latin typeface="Nimbus Sans"/>
                <a:ea typeface="Nimbus Sans"/>
                <a:cs typeface="Nimbus Sans"/>
              </a:rPr>
              <a:t>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5E6136-CFBB-4FD4-A2B8-F0B9E92B8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647950"/>
            <a:ext cx="70008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325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¿Qué cambió en tu respuesta después de verificar?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B3F9D6-566F-4E9A-95A4-01EC2257F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257675"/>
            <a:ext cx="676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C9D9E3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 i="0">
                <a:solidFill>
                  <a:srgbClr val="C9D9E3"/>
                </a:solidFill>
                <a:latin typeface="Nimbus Sans"/>
                <a:ea typeface="Nimbus Sans"/>
                <a:cs typeface="Nimbus Sans"/>
              </a:rPr>
              <a:t>Salida: una corrección concreta y un límite todavía abierto.</a:t>
            </a:r>
          </a:p>
        </p:txBody>
      </p:sp>
    </p:spTree>
    <p:extLst>
      <p:ext uri="{BB962C8B-B14F-4D97-AF65-F5344CB8AC3E}">
        <p14:creationId xmlns:p14="http://schemas.microsoft.com/office/powerpoint/2010/main" val="3930265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2026-09-12T17:46:07.2850000Z</dcterms:created>
  <dcterms:modified xsi:type="dcterms:W3CDTF">2026-09-12T17:46:07.2850000Z</dcterms:modified>
</coreProperties>
</file>