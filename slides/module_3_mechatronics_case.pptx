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c36936f1b34ef0" /><Relationship Type="http://schemas.openxmlformats.org/officeDocument/2006/relationships/extended-properties" Target="/docProps/app.xml" Id="R4ed13cccbbdd453c" /><Relationship Type="http://schemas.openxmlformats.org/officeDocument/2006/relationships/officeDocument" Target="/ppt/presentation.xml" Id="R858b5fec5e7f49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f06b7305564b95"/>
  </p:sldMasterIdLst>
  <p:notesMasterIdLst>
    <p:notesMasterId xmlns:r="http://schemas.openxmlformats.org/officeDocument/2006/relationships" r:id="R6e275d1c92c04c64"/>
  </p:notesMasterIdLst>
  <p:sldIdLst>
    <p:sldId xmlns:r="http://schemas.openxmlformats.org/officeDocument/2006/relationships" id="256" r:id="R227fe16e57af49a2"/>
    <p:sldId xmlns:r="http://schemas.openxmlformats.org/officeDocument/2006/relationships" id="257" r:id="Rc3f5fdb7a8524b14"/>
    <p:sldId xmlns:r="http://schemas.openxmlformats.org/officeDocument/2006/relationships" id="258" r:id="R73a322fc3ac74d28"/>
    <p:sldId xmlns:r="http://schemas.openxmlformats.org/officeDocument/2006/relationships" id="259" r:id="Re20ae29e2e734625"/>
    <p:sldId xmlns:r="http://schemas.openxmlformats.org/officeDocument/2006/relationships" id="260" r:id="R653fcc246dac40ca"/>
    <p:sldId xmlns:r="http://schemas.openxmlformats.org/officeDocument/2006/relationships" id="261" r:id="Ra0699089270f4ffc"/>
    <p:sldId xmlns:r="http://schemas.openxmlformats.org/officeDocument/2006/relationships" id="262" r:id="R8f93ac4a463f4597"/>
    <p:sldId xmlns:r="http://schemas.openxmlformats.org/officeDocument/2006/relationships" id="263" r:id="Rbef6abdace3747b5"/>
    <p:sldId xmlns:r="http://schemas.openxmlformats.org/officeDocument/2006/relationships" id="264" r:id="R1bec900fe19d4f57"/>
    <p:sldId xmlns:r="http://schemas.openxmlformats.org/officeDocument/2006/relationships" id="265" r:id="R8dfa2519be714c0b"/>
    <p:sldId xmlns:r="http://schemas.openxmlformats.org/officeDocument/2006/relationships" id="266" r:id="Re7fa586426484244"/>
    <p:sldId xmlns:r="http://schemas.openxmlformats.org/officeDocument/2006/relationships" id="267" r:id="R1c22966912ed40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c9e6984e1e4951" /><Relationship Type="http://schemas.openxmlformats.org/officeDocument/2006/relationships/slideMaster" Target="/ppt/slideMasters/slideMaster1.xml" Id="R8ef06b7305564b95" /><Relationship Type="http://schemas.openxmlformats.org/officeDocument/2006/relationships/notesMaster" Target="/ppt/notesMasters/notesMaster1.xml" Id="R6e275d1c92c04c64" /><Relationship Type="http://schemas.openxmlformats.org/officeDocument/2006/relationships/presProps" Target="/ppt/presProps.xml" Id="R93db77cced304b94" /><Relationship Type="http://schemas.openxmlformats.org/officeDocument/2006/relationships/tableStyles" Target="/ppt/tableStyles.xml" Id="R3d7754e1f2574d72" /><Relationship Type="http://schemas.openxmlformats.org/officeDocument/2006/relationships/slide" Target="/ppt/slides/slide1.xml" Id="R227fe16e57af49a2" /><Relationship Type="http://schemas.openxmlformats.org/officeDocument/2006/relationships/slide" Target="/ppt/slides/slide2.xml" Id="Rc3f5fdb7a8524b14" /><Relationship Type="http://schemas.openxmlformats.org/officeDocument/2006/relationships/slide" Target="/ppt/slides/slide3.xml" Id="R73a322fc3ac74d28" /><Relationship Type="http://schemas.openxmlformats.org/officeDocument/2006/relationships/slide" Target="/ppt/slides/slide4.xml" Id="Re20ae29e2e734625" /><Relationship Type="http://schemas.openxmlformats.org/officeDocument/2006/relationships/slide" Target="/ppt/slides/slide5.xml" Id="R653fcc246dac40ca" /><Relationship Type="http://schemas.openxmlformats.org/officeDocument/2006/relationships/slide" Target="/ppt/slides/slide6.xml" Id="Ra0699089270f4ffc" /><Relationship Type="http://schemas.openxmlformats.org/officeDocument/2006/relationships/slide" Target="/ppt/slides/slide7.xml" Id="R8f93ac4a463f4597" /><Relationship Type="http://schemas.openxmlformats.org/officeDocument/2006/relationships/slide" Target="/ppt/slides/slide8.xml" Id="Rbef6abdace3747b5" /><Relationship Type="http://schemas.openxmlformats.org/officeDocument/2006/relationships/slide" Target="/ppt/slides/slide9.xml" Id="R1bec900fe19d4f57" /><Relationship Type="http://schemas.openxmlformats.org/officeDocument/2006/relationships/slide" Target="/ppt/slides/slide10.xml" Id="R8dfa2519be714c0b" /><Relationship Type="http://schemas.openxmlformats.org/officeDocument/2006/relationships/slide" Target="/ppt/slides/slide11.xml" Id="Re7fa586426484244" /><Relationship Type="http://schemas.openxmlformats.org/officeDocument/2006/relationships/slide" Target="/ppt/slides/slide12.xml" Id="R1c22966912ed40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18bffad44c4e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24b3c69c684003" /><Relationship Type="http://schemas.openxmlformats.org/officeDocument/2006/relationships/notesMaster" Target="/ppt/notesMasters/notesMaster1.xml" Id="Rdad959bdc96b44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ffbed865374919" /><Relationship Type="http://schemas.openxmlformats.org/officeDocument/2006/relationships/notesMaster" Target="/ppt/notesMasters/notesMaster1.xml" Id="Ra5fc204166934f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eb371f554a4435" /><Relationship Type="http://schemas.openxmlformats.org/officeDocument/2006/relationships/notesMaster" Target="/ppt/notesMasters/notesMaster1.xml" Id="Re322f1ba611c4c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b556b692524f27" /><Relationship Type="http://schemas.openxmlformats.org/officeDocument/2006/relationships/notesMaster" Target="/ppt/notesMasters/notesMaster1.xml" Id="Rac29e33244e14f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c6bc4df95f49a3" /><Relationship Type="http://schemas.openxmlformats.org/officeDocument/2006/relationships/notesMaster" Target="/ppt/notesMasters/notesMaster1.xml" Id="R38106adecf9542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450b2d848a4ebd" /><Relationship Type="http://schemas.openxmlformats.org/officeDocument/2006/relationships/notesMaster" Target="/ppt/notesMasters/notesMaster1.xml" Id="Re14056fb0ed945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66888065f34504" /><Relationship Type="http://schemas.openxmlformats.org/officeDocument/2006/relationships/notesMaster" Target="/ppt/notesMasters/notesMaster1.xml" Id="Rfb420b7fe82445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e8a86dd48f4750" /><Relationship Type="http://schemas.openxmlformats.org/officeDocument/2006/relationships/notesMaster" Target="/ppt/notesMasters/notesMaster1.xml" Id="R9750e9b50a4942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19896886cf41c6" /><Relationship Type="http://schemas.openxmlformats.org/officeDocument/2006/relationships/notesMaster" Target="/ppt/notesMasters/notesMaster1.xml" Id="Rd0aa2d1d80c744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005abaca9b4689" /><Relationship Type="http://schemas.openxmlformats.org/officeDocument/2006/relationships/notesMaster" Target="/ppt/notesMasters/notesMaster1.xml" Id="R7450861139544a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204bd694304840" /><Relationship Type="http://schemas.openxmlformats.org/officeDocument/2006/relationships/notesMaster" Target="/ppt/notesMasters/notesMaster1.xml" Id="R3d2dfc87190d44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3e180360cf4e83" /><Relationship Type="http://schemas.openxmlformats.org/officeDocument/2006/relationships/notesMaster" Target="/ppt/notesMasters/notesMaster1.xml" Id="R242419f4d63f4a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5 min]</a:t>
            </a:r>
          </a:p>
          <a:p xmlns:a="http://schemas.openxmlformats.org/drawingml/2006/main">
            <a:r>
              <a:t>Presente el caso como didáctico: modelo de masa puntual controlada por PD. No es gemelo digital ni diagnóstico industrial validado.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5 min]</a:t>
            </a:r>
          </a:p>
          <a:p xmlns:a="http://schemas.openxmlformats.org/drawingml/2006/main">
            <a:r>
              <a:t>Abra data/metadata.json. Señale semilla, parámetros, propósito y hashes. Estudio relacionado general: Isermann, DOI 10.1016/j.arcontrol.2004.12.002.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8 min]</a:t>
            </a:r>
          </a:p>
          <a:p xmlns:a="http://schemas.openxmlformats.org/drawingml/2006/main">
            <a:r>
              <a:t>Derive verbalmente el efecto de g y del sesgo. Código fuente: src/eu4m_workshop/simulation.py. No hace falta resolver la dinámica analíticamente.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8 min]</a:t>
            </a:r>
          </a:p>
          <a:p xmlns:a="http://schemas.openxmlformats.org/drawingml/2006/main">
            <a:r>
              <a:t>Muestre scripts/generate_dataset.py. Pregunte qué cambiaría en un experimento real: calibración, sincronización, repetición y seguridad.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12 min]</a:t>
            </a:r>
          </a:p>
          <a:p xmlns:a="http://schemas.openxmlformats.org/drawingml/2006/main">
            <a:r>
              <a:t>La figura se regenera desde los tres CSV de data/. Señale que position_true_m es validación, no sensor operativo.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8 min]</a:t>
            </a:r>
          </a:p>
          <a:p xmlns:a="http://schemas.openxmlformats.org/drawingml/2006/main">
            <a:r>
              <a:t>Ejecute la celda ‘Contrato del dataset’. Un assert fallido es evidencia útil: detiene conclusiones basadas en un archivo distinto.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40 min]</a:t>
            </a:r>
          </a:p>
          <a:p xmlns:a="http://schemas.openxmlformats.org/drawingml/2006/main">
            <a:r>
              <a:t>Use notebooks/03_actuator_case_student.ipynb y activities/module_3_engineering_case.md. Solución en el notebook solution. Colab es opcional; no requiere Drive ni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12 min]</a:t>
            </a:r>
          </a:p>
          <a:p xmlns:a="http://schemas.openxmlformats.org/drawingml/2006/main">
            <a:r>
              <a:t>Valores exactos en results/scenario_summary.csv. Son medianas descriptivas de 8 ejecuciones, no una prueba de rendimiento industrial.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7 min]</a:t>
            </a:r>
          </a:p>
          <a:p xmlns:a="http://schemas.openxmlformats.org/drawingml/2006/main">
            <a:r>
              <a:t>Respuesta a la pregunta del notebook: el controlador regula la medida sesgada. Confirmar el sesgo usa position_true_m, señal inexistente en operación con un solo sensor.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6 min]</a:t>
            </a:r>
          </a:p>
          <a:p xmlns:a="http://schemas.openxmlformats.org/drawingml/2006/main">
            <a:r>
              <a:t>Conecte con tests/test_analysis.py. Referencia de contexto: Lei et al., Mechanical Systems and Signal Processing, DOI 10.1016/j.ymssp.2019.106587.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5 min]</a:t>
            </a:r>
          </a:p>
          <a:p xmlns:a="http://schemas.openxmlformats.org/drawingml/2006/main">
            <a:r>
              <a:t>Pida que localicen palabras de alcance: ‘esta configuración’, ‘mediano’, ‘simulado’. Una conclusión distinta puede ser válida si usa evidencia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4 min]</a:t>
            </a:r>
          </a:p>
          <a:p xmlns:a="http://schemas.openxmlformats.org/drawingml/2006/main">
            <a:r>
              <a:t>Salida: cada estudiante propone una medición real siguiente y explica qué incertidumbre reduce. Ejemplos: encoder externo, carga variable, deriva térmica.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3dd8e6eb343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534d74c50c410d" /><Relationship Type="http://schemas.openxmlformats.org/officeDocument/2006/relationships/slideLayout" Target="/ppt/slideLayouts/slideLayout1.xml" Id="R9d61949227a241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61949227a241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27195788e4582" /><Relationship Type="http://schemas.openxmlformats.org/officeDocument/2006/relationships/notesSlide" Target="/ppt/notesSlides/notesSlide1.xml" Id="R5848f8b0a1ec44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472bda60b453f" /><Relationship Type="http://schemas.openxmlformats.org/officeDocument/2006/relationships/notesSlide" Target="/ppt/notesSlides/notesSlide2.xml" Id="R344daf95516744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bf51447db470e" /><Relationship Type="http://schemas.openxmlformats.org/officeDocument/2006/relationships/notesSlide" Target="/ppt/notesSlides/notesSlide3.xml" Id="R01c64a73f1bf4d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b26b334294236" /><Relationship Type="http://schemas.openxmlformats.org/officeDocument/2006/relationships/notesSlide" Target="/ppt/notesSlides/notesSlide4.xml" Id="R75257f2f6bfb49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220c3fd9a4bc6" /><Relationship Type="http://schemas.openxmlformats.org/officeDocument/2006/relationships/image" Target="/ppt/media/image.png" Id="R51b9738c3731421e" /><Relationship Type="http://schemas.openxmlformats.org/officeDocument/2006/relationships/notesSlide" Target="/ppt/notesSlides/notesSlide5.xml" Id="Rfed84b0bfba54f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2b93b47d44068" /><Relationship Type="http://schemas.openxmlformats.org/officeDocument/2006/relationships/notesSlide" Target="/ppt/notesSlides/notesSlide6.xml" Id="R01aa6622962340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93c8408284140" /><Relationship Type="http://schemas.openxmlformats.org/officeDocument/2006/relationships/notesSlide" Target="/ppt/notesSlides/notesSlide7.xml" Id="R226c02231d6b45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9d556e6bf46b2" /><Relationship Type="http://schemas.openxmlformats.org/officeDocument/2006/relationships/image" Target="/ppt/media/image2.png" Id="Ra4ac9b53cfc04be5" /><Relationship Type="http://schemas.openxmlformats.org/officeDocument/2006/relationships/notesSlide" Target="/ppt/notesSlides/notesSlide8.xml" Id="Rf897bb51c0714a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963de5e0a4f27" /><Relationship Type="http://schemas.openxmlformats.org/officeDocument/2006/relationships/notesSlide" Target="/ppt/notesSlides/notesSlide9.xml" Id="Rff4637a84ec542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1e25efe6f4995" /><Relationship Type="http://schemas.openxmlformats.org/officeDocument/2006/relationships/notesSlide" Target="/ppt/notesSlides/notesSlide10.xml" Id="R84afcf46ea8146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f8855bb0942f7" /><Relationship Type="http://schemas.openxmlformats.org/officeDocument/2006/relationships/notesSlide" Target="/ppt/notesSlides/notesSlide11.xml" Id="R5cedf7186e0c43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b4bb6173b4aa4" /><Relationship Type="http://schemas.openxmlformats.org/officeDocument/2006/relationships/notesSlide" Target="/ppt/notesSlides/notesSlide12.xml" Id="Rfac26c46234944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2DBD2-86D3-4FC6-B6E2-E4EB2509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46E92-E4FA-499D-AFB1-5E70F14E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0"/>
            <a:ext cx="3448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5B167-770B-44E1-B46E-780A5401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38200"/>
            <a:ext cx="190500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D2B7E-008D-4FB1-8C5F-FE2D8AFA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66800"/>
            <a:ext cx="129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70314-27E9-4D60-B2F5-2F1A4CEB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TALLER EU4M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240AD-E3A2-42E5-B7D5-FBF5A521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143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Caso mecatrónico reproducible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31AC4-9FCC-405B-BA20-3D72BEE4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7E3EA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D7E3EA"/>
                </a:solidFill>
                <a:latin typeface="Nimbus Sans"/>
                <a:ea typeface="Nimbus Sans"/>
                <a:cs typeface="Nimbus Sans"/>
              </a:rPr>
              <a:t>Simular, medir, probar y limitar una conclusión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01203-1E2F-4D4B-8BBB-968B1B48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 horas · español · presencial · portátil y navegador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233BD-4FBF-4D91-9E95-65CA71AB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Sebastian Rojas-Ordoñez</a:t>
            </a:r>
          </a:p>
        </p:txBody>
      </p:sp>
    </p:spTree>
    <p:extLst>
      <p:ext uri="{BB962C8B-B14F-4D97-AF65-F5344CB8AC3E}">
        <p14:creationId xmlns:p14="http://schemas.microsoft.com/office/powerpoint/2010/main" val="337042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FD86D1-082E-4A1E-A1D2-EB677CE8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50794-8093-432A-821A-ABE4AA1D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3 · TAREA MECATRÓNICA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7B59D-50A2-41CD-B9D1-CB95CB3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Pregunta de ingeniería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183B7-4048-4514-9E8B-0BB3D8F2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¿Qué afirmaciones soportan 24 ensayos sintéticos?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B1311-343B-4ECC-BBAC-CC5F8A07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6CA8E-4B1B-4CC9-A28A-374064AE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F7DFD-02DB-4A2D-97AF-E8686C7F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FAE92-E05A-4ADB-BC92-A6F0D31E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19724-CBA7-486D-AA73-4A298EA3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7710C-C83D-4F24-8700-E5C167C0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SISTEMA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C95D9-EEED-481B-B264-EBC58D04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Actuador lineal didáctico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71920-30EA-433D-A4AD-B4E8D9C6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Referencia de posición, controlador PD, límite de fuerza, masa y amortiguamiento.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1608B-29F7-40E9-9C49-9ED96A51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27583-4033-4E4A-9BDA-4723085F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AE914-8988-4231-B798-8E0C8AF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ESCENARIOS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3D5D1-BCC6-4AC0-BC63-A58861D2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Tres condiciones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512A8-B33A-4E3B-AB46-3BE14F03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Nominal · pérdida de eficacia del actuador · sesgo del sensor.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20088-EDEC-4CAA-806E-4AD1B4CD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1B607-D1D1-4A6E-AE5A-BA600083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81445-A6CC-4B19-989A-A70059B7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EVIDENCIA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C9F1A-4253-4A66-871D-41408003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Señales y características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CC2FD-8155-4DB7-AC9F-1406C5D4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24 ejecuciones × 400 muestras; métricas por ejecución y medianas.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0D4B7-C00F-4895-93AE-8DBC10A8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E04C80-4CF3-4312-BE15-459C9719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D57730-FAA7-4237-A31F-67E5FF8F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LÍMITE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BCD75-9E54-4E69-90BE-5431061C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Simulación transparente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7BC430-D97E-42FA-B85E-C214D1A8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Sirve para practicar razonamiento, no para certificar hardware real.</a:t>
            </a:r>
          </a:p>
        </p:txBody>
      </p:sp>
    </p:spTree>
    <p:extLst>
      <p:ext uri="{BB962C8B-B14F-4D97-AF65-F5344CB8AC3E}">
        <p14:creationId xmlns:p14="http://schemas.microsoft.com/office/powerpoint/2010/main" val="1930046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B717E-E8D3-439D-A827-E3093CCF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29562-77D4-4D79-AA2E-E4A2D739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3 · TAREA MECATRÓNICA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76897-7E9B-4E98-85DD-0004D92A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El modelo cabe en tres ecuaciones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9B11F-BFE2-408F-A093-B2B65441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Suficientemente simple para inspeccionarlo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68336-9159-448B-943B-983B1C24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9DFB3-E827-4AF1-A24C-B3C912B7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05436-CD2E-4B24-92C7-0DF1F24E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8DDFF-14A1-4317-BB84-DA8BFA10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B82B3-94C3-4039-9E40-3DCC16CB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A2456-1E44-40F0-A522-CFDD9C95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5B166-1369-4451-B18D-5BCA666D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e = r − xₘ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6F567-A4CF-437B-83A1-121AF6FF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El controlador usa la posición medida; un sesgo altera el error observado.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979E1-D4B3-45B5-AF4E-22238836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37EC7-A0FA-49B4-8917-3858B56B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0054D-FB46-4F65-9E43-C9928200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390E8-1D09-4D62-B995-8831AA0A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u = sat(Kₚe − Kdvₘ)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14D30-A647-4927-9931-B33034B6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La orden está limitada a ±12 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219EC-20C1-4044-8C7B-794C42CC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5A500-251E-4418-BF25-C473220A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F7807F-3BD4-4422-A99B-DC35F907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PLANTA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6E03F-A1AD-41F7-B6C2-9B2C957B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mẍ + bẋ = g·u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D77676-2299-4C7F-AAC9-699B65BF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La pérdida de eficacia reduce g de 1,00 a 0,58.</a:t>
            </a:r>
          </a:p>
        </p:txBody>
      </p:sp>
    </p:spTree>
    <p:extLst>
      <p:ext uri="{BB962C8B-B14F-4D97-AF65-F5344CB8AC3E}">
        <p14:creationId xmlns:p14="http://schemas.microsoft.com/office/powerpoint/2010/main" val="1056177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1E3658-E952-4D1F-8224-931AC678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D499B-B953-4F20-9E1F-4460150A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3 · TAREA MECATRÓNICA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BB80F-D7BB-4C04-AE2C-4EE1E7E5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Diseño experimental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C199E-31FE-4264-B2BF-003EF260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Variación controlada antes de interpretar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746AD-4209-45B1-8EAC-F664052C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8A5AE-A8FC-4D44-88AB-9384CA82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1C23D-CC59-4201-8091-A8B5A148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3BDA5-1C47-461B-97DB-77239473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4CCC1-8AC2-4BE7-A111-D74333AD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2760B-4A92-4EE1-A584-FDC6AEF1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BALANCE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03A45-976E-45AD-9553-D944E6B3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8 ejecuciones por escenario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9BD65-9A16-4B31-9F39-AEA0D329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Mismo perfil de referencia y distinta semilla.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36001-576E-40FD-8D99-9F3D0FD0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47097-3BB2-4D51-905D-1E12F7F1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182EA-5D0F-4546-A7F9-9F80E36E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VARIACIÓN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79C30-B180-40DD-BFB6-D2CF4AF3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± parámetros y ruido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E4AB2-BA42-47F5-8CCA-B1827566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Masa, amortiguamiento y ruido cambian ligeramente por ejecución.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CC91B-90F5-4945-8988-548C0289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5A517-E6E7-4C2B-BDC0-7AE025C0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FD3AA-4BC4-47D9-B7C8-A42388C9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TRAZABILIDAD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EA45A-D5CE-40AD-B643-E14F3291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Semillas deterministas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80930-5A1A-441C-99B5-02A59E88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base_seed = 2609; regeneración produce los mismos hashes.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1182A4-25D5-474A-9E86-852EAA6A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837B54-9011-4628-87D7-26EE4C45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70AEC-8CD8-4A5F-9803-F2FBAC83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SEPARACIÓN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4C6AB1-15F0-43BE-B821-6EAA14F1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Operación vs validación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C14B73-18A3-42F4-A66E-6BF8E7DD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Las señales ‘true’ existen solo para comprobar la simulación.</a:t>
            </a:r>
          </a:p>
        </p:txBody>
      </p:sp>
    </p:spTree>
    <p:extLst>
      <p:ext uri="{BB962C8B-B14F-4D97-AF65-F5344CB8AC3E}">
        <p14:creationId xmlns:p14="http://schemas.microsoft.com/office/powerpoint/2010/main" val="11219251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F65FA-1226-42E5-8D73-0136B4ED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2B6D5-5A83-4223-B8F3-C6760E67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3 · TAREA MECATRÓNICA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3BB4E-5C3A-4B10-BFCC-43F90339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Las señales cuentan historias distintas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19D4B-8531-4AF4-9C74-5BF4D3BE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Medida, estado real simulado y esfuerzo de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6232A-0A7B-403B-BAC4-33876347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0D883-0EBF-4872-83E8-F5185B08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B4AC0-EF99-4780-962C-56E8AD4E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9738c3731421e"/>
          <a:stretch xmlns:a="http://schemas.openxmlformats.org/drawingml/2006/main"/>
        </p:blipFill>
        <p:spPr>
          <a:xfrm xmlns:a="http://schemas.openxmlformats.org/drawingml/2006/main">
            <a:off x="1794768" y="1809750"/>
            <a:ext cx="5021064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9EE75-F1DC-4F84-86A3-2D444147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257550" cy="4000500"/>
          </a:xfrm>
          <a:prstGeom xmlns:a="http://schemas.openxmlformats.org/drawingml/2006/main" prst="roundRect">
            <a:avLst>
              <a:gd name="adj" fmla="val 4094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0A9E5-C227-4262-8E05-10EA932C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3360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Lectura guiada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5EABA-E721-405A-A917-D61B525D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76550"/>
            <a:ext cx="26479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1. Compare referencia y posición medida.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2. Compare medida y posición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3. Observe cuándo la fuerza satura.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4. Evite diagnosticar usando la etiqueta del escenario.</a:t>
            </a:r>
          </a:p>
        </p:txBody>
      </p:sp>
    </p:spTree>
    <p:extLst>
      <p:ext uri="{BB962C8B-B14F-4D97-AF65-F5344CB8AC3E}">
        <p14:creationId xmlns:p14="http://schemas.microsoft.com/office/powerpoint/2010/main" val="1103339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A045E9-A528-4DED-8D38-E181B1D8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5DAC1-9244-4128-B07C-E11F270C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3 · TAREA MECATRÓNICA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1BD9D-EE23-46F6-BC9E-9C757BF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Contrato de datos antes del gráfico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3AC40-60D6-4825-99D2-D9663E98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Si el archivo no cumple, la interpretación se detiene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C3F56-AFA2-4D75-A8FD-EF2140C9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52FDB-60EB-4C3C-9C2F-9AB9F310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5FE6A-976C-4A12-B817-40DF3BBD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F78F9-0092-468D-AF58-3AF2F8B7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05574-1EEF-4B03-A04E-355C7C3D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E855D-E18F-479F-A1B5-941A4207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ESTRUCTURA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7A831-4152-4A2E-AA83-65E5AA04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11 columnas esperadas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FAE32-4605-42A9-97BE-45793130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Identidad, tiempo, referencia, medidas, orden y señales de validación.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969FC-2A81-44B6-AFD1-80A14430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90C97-82AD-41C9-8EF0-C82A214B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20E8E-2F00-4F55-82A5-CFEDC63C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CANTIDAD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0FC20-918F-464B-8D1D-002CD580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9.600 filas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2209C-D8B4-4EA8-AB40-559EAD25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24 ejecuciones × 400 muestras; periodo de 0,02 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6C1D9-99D4-481C-853D-7A903B80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E6E5D-E57B-414D-A5D2-329E42D6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C7E1E-D266-4D13-9591-51F48572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INTEGRIDAD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70318-AF57-4298-8D83-F03311EF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Sin nulos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2CA7F-F2A4-41AC-A1FA-C01CE2A1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Clases conocidas, orden estable y valores finitos.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004F4-3CA6-453C-BF1F-48090B0E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372B1A-F05C-4920-AD23-E1E54B20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FEEB8-7D23-49E6-A404-EF8AD8B5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PROCEDENCIA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38102-8CC9-41D5-8213-17E27EA7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SHA-256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775348-F345-49E2-803B-D95F70D4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metadata.json registra las huellas de datos y resultados.</a:t>
            </a:r>
          </a:p>
        </p:txBody>
      </p:sp>
    </p:spTree>
    <p:extLst>
      <p:ext uri="{BB962C8B-B14F-4D97-AF65-F5344CB8AC3E}">
        <p14:creationId xmlns:p14="http://schemas.microsoft.com/office/powerpoint/2010/main" val="17286514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DEEA4-5D87-4E86-BCCA-992693AC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77043-0F6E-4F94-AAAA-5345AD84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3 · TAREA MECATRÓNICA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69230-6869-4BF7-84AE-5672D13D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Notebook · del dato a la prueba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F5F48-C0F4-488B-A9A4-51621FC4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Compatible con Colab o Jupyter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0C9AD-3EC0-4EDC-AE87-1496F3E4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35347-214A-4DA1-B304-F03EE1F4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A2E03-A571-43FA-9B17-D1EB067C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CF8E2-3D0A-4991-A5C4-4B259667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95F3E-B606-40FC-BD91-ADDFB2A0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Audite tres afirmaciones sobre el caso.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65C7E-77CD-45F5-BE2C-481C4953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A5DE3-C8E6-49DC-8740-86863B5C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Cargue y valide el contrato del dataset.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06554-BD97-4E56-AE22-E10734BD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FEFB7-51FC-451F-81CB-8D9F11FD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Calcule características ignorando el primer segundo.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8ADD7-EB7B-4A29-B9CF-CBB2DC0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03D0C-F2B9-48E6-B144-7680EF05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386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Compruebe cada afirmación con cálculo o assert.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7EB21-BC40-43DB-8DF9-3CB5CDB2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0C1AD-86D2-4772-9081-C76C1CA0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Documente señal ausente y prueba real siguiente.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9CCC7-5438-45DC-9365-0709EC2C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257550" cy="400050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F2E8B-6AB2-4A5A-8AA0-C3045245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2419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40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F213F2-3373-421E-999E-2917C8B8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90875"/>
            <a:ext cx="2495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Notebook + fila PVRD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AD2B8-9314-4656-A372-8518B122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958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9D9E3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C9D9E3"/>
                </a:solidFill>
                <a:latin typeface="Nimbus Sans"/>
                <a:ea typeface="Nimbus Sans"/>
                <a:cs typeface="Nimbus Sans"/>
              </a:rPr>
              <a:t>PAREJAS</a:t>
            </a:r>
          </a:p>
        </p:txBody>
      </p:sp>
    </p:spTree>
    <p:extLst>
      <p:ext uri="{BB962C8B-B14F-4D97-AF65-F5344CB8AC3E}">
        <p14:creationId xmlns:p14="http://schemas.microsoft.com/office/powerpoint/2010/main" val="14048150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F3185-935D-4A95-B69C-A659E5F1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3E279-6D78-4942-9566-A5D2E839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3 · TAREA MECATRÓNICA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16942-D5CB-4A79-B4D1-BB68D5EB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Resultados: separar indicio y confirmación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44227-4B68-43B4-9E4B-CCF44004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Las medianas describen este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2E7F8-B8CC-47ED-87C9-598D5CCA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D63EA-D2B8-4AB2-8B41-56312EEF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DC77A-69F9-4938-A475-0899AF0C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c9b53cfc04be5"/>
          <a:stretch xmlns:a="http://schemas.openxmlformats.org/drawingml/2006/main"/>
        </p:blipFill>
        <p:spPr>
          <a:xfrm xmlns:a="http://schemas.openxmlformats.org/drawingml/2006/main">
            <a:off x="685800" y="2686516"/>
            <a:ext cx="7239000" cy="224696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F0D81-3603-426C-9B4A-23B8B954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257550" cy="4000500"/>
          </a:xfrm>
          <a:prstGeom xmlns:a="http://schemas.openxmlformats.org/drawingml/2006/main" prst="roundRect">
            <a:avLst>
              <a:gd name="adj" fmla="val 4094"/>
            </a:avLst>
          </a:prstGeom>
          <a:solidFill xmlns:a="http://schemas.openxmlformats.org/drawingml/2006/main">
            <a:srgbClr val="F7EBD6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8E7D0-CDC7-4217-BE3F-7F63E1E4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3360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Tres lecturas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5D04E-2D6C-420A-93BB-1EF94D37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76550"/>
            <a:ext cx="26479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Pérdida: RMSE real mediano ≈ 0,340 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Sesgo: residual mediano ≈ 0,120 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Nominal: referencia de comparación, no ‘verdad universal’.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No se informa significancia estadística.</a:t>
            </a:r>
          </a:p>
        </p:txBody>
      </p:sp>
    </p:spTree>
    <p:extLst>
      <p:ext uri="{BB962C8B-B14F-4D97-AF65-F5344CB8AC3E}">
        <p14:creationId xmlns:p14="http://schemas.microsoft.com/office/powerpoint/2010/main" val="2285781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1AC499-76C6-443E-A8D3-B6FCE9C5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73295-06CC-4450-AC0F-8B537DB4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3 · TAREA MECATRÓNICA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503FB-CDFF-4976-A55A-64110DC6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La trampa del sesgo de sensor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E292B-8116-4F9F-94C2-1B54F813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Un lazo puede parecer satisfecho y estar desplazado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12257-109F-447E-BF5E-4D512F12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376D2-58F4-4E46-810F-E00E3581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B992A-750B-4E2E-9626-9D53F83C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F04E1-4259-43E1-9CEF-451BFA3D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852E9-0547-4BE7-BDDE-461C0D6D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5240E-AC49-4550-8E74-103B0999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VE EL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4B2F8-DDF5-4E76-9EDC-53F94835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Posición medida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1F6E2-0819-468D-B954-4E8FBEF1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Con +0,12 m de sesgo, el error medido puede reducirse cerca de cero.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5B1F6-BFFB-45A9-9D60-1DEEDD8A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160EF-EB10-4FC0-9A8B-E86FEED8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EC846-373C-4BBC-9B66-E410B5F2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OCURRE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EE9F3-1135-4402-AEEA-2C9905FB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Posición real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1E0FF-D644-49FC-93CA-64F8A231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El estado real queda desplazado aproximadamente 0,12 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EE353-7B60-4546-931E-9A8AE4D4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DD553-ED35-4805-AF9F-20F86576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87424-634C-4ACE-9F5C-98511E01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FALTA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0CAB5-5BCB-4108-B279-E5416347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Referencia independiente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FC350-1CE8-48BC-B76A-2FB04E56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Sensor redundante, patrón externo o modelo residual validado.</a:t>
            </a:r>
          </a:p>
        </p:txBody>
      </p:sp>
    </p:spTree>
    <p:extLst>
      <p:ext uri="{BB962C8B-B14F-4D97-AF65-F5344CB8AC3E}">
        <p14:creationId xmlns:p14="http://schemas.microsoft.com/office/powerpoint/2010/main" val="1661974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EF9371-5300-4665-B583-CCDBBF94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3622B-E6E5-47B9-81C7-1B902864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3 · TAREA MECATRÓNICA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0BB8F-02D6-4961-86E2-8B3F41EB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IA para código: aceptación antes que sintaxis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30C25-E379-4FB0-8185-C02FDCBF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Un script que ejecuta puede responder otra pregunta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69792-A53A-4F29-A689-EA314429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45D55-F759-40FA-9833-FB435721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7B84-6663-478D-88ED-AA985D1E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1EAA9-CCF8-46A1-BFC1-92EF0CF2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62653-900A-4BF4-BC7D-B503B845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28329-B2A8-4D4B-9322-7D017928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ESPECIFIQUE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23C9C-BA79-482C-BBB3-1C771B4E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Entrada y unidad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0E708-12F2-40A5-BB3C-E2DD698A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Columnas, muestreo, transitorio ignorado y agregación.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EE894-53C2-49C2-BDD6-26513785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45F70-4CEB-4892-ADE2-4E4881CE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4258B-B1A0-4CFC-8FE3-163AAF04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EXIJA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D237F-1DA5-4AF7-A8BD-BC910E5D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Pruebas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43B09-63F0-481F-B633-46FCEB8A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Nominal, borde, error esperado, ausencia de nulos y reproducibilidad.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09D7D-50B2-4877-845C-F812A272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6EA7A-0EA9-4D92-ACB1-BBAF1CA0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7B1BD-DDB9-40AB-8A6E-2537434E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REVISE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4803E-1657-40B6-8C57-B2036611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Fugas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F9F96-A159-48F4-B120-B5984EF0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No usar escenario ni señales ‘true’ para un diagnóstico que se presenta como operativo.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8062CB-E1E1-4A27-BF55-75EAA847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F7B8C-6B9C-4979-B0F1-1BE2177D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40E0F6-4484-4837-9BF7-4F8899DD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EJECUTE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F18D28-59D3-4583-9E0B-D569EA8F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Entorno objetivo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5FBD65-C6AE-4D1F-9052-C00DAF07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Python/Colab real; guardar error, corrección y versión.</a:t>
            </a:r>
          </a:p>
        </p:txBody>
      </p:sp>
    </p:spTree>
    <p:extLst>
      <p:ext uri="{BB962C8B-B14F-4D97-AF65-F5344CB8AC3E}">
        <p14:creationId xmlns:p14="http://schemas.microsoft.com/office/powerpoint/2010/main" val="3503398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11823-1272-41D7-8F8C-9BD5188F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66DA3-A0E3-46AC-843E-B0F42E70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3 · TAREA MECATRÓNICA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207E8-474E-4C06-A7EA-6A0321CD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Qué se puede afirmar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50281-5F1B-4E46-8E62-E5A8179B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Conclusión proporcional a la evidencia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F7D8B-6E45-4080-9FFF-3C761758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8BECD-C81A-46D4-B999-ECAC706C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A3E14-7AC2-4C17-856E-5004BFAA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2FF57-D911-4B8D-A0D2-7BC9E1C6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31CC2-9A00-42A0-8F5A-F886A239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5239F-4940-4A7C-A592-3091AC30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SÍ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919C7-F314-4957-95AB-5B49109C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En esta simulación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D6EA3-BEB8-4BD2-AB15-40729B1B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La pérdida configurada aumenta el RMSE real mediano frente al nominal.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452B7-05BE-403D-820F-9CE48692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010AC-4834-478E-B059-1F1D3DEA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E8DEF-807B-46D4-969A-521D5359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SÍ, CON CONDICIÓN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7D29A-3991-400E-B641-1C172FB7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El sesgo es observable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C8F326-673B-4AFD-B55B-2DB9AF42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Cuando existe una referencia independiente del estado real.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69F98-A8EC-4B04-B30E-3537C01A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5EBD6-B19D-48B6-8EF2-D826A042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A4AC1-DCC7-4659-8686-AEC8DB84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D7D04-1ECF-4805-B5B1-F7544B67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Generalización industrial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C0E01-A3C6-4E93-90CD-3071D622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No hay hardware, modos de fallo diversos ni validación externa.</a:t>
            </a:r>
          </a:p>
        </p:txBody>
      </p:sp>
    </p:spTree>
    <p:extLst>
      <p:ext uri="{BB962C8B-B14F-4D97-AF65-F5344CB8AC3E}">
        <p14:creationId xmlns:p14="http://schemas.microsoft.com/office/powerpoint/2010/main" val="12735958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2D7F8-C0B7-4627-AA5E-CFA64D31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C85F2-CFA4-4506-9977-7FEA6819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3 · TAREA MECATRÓNICA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48C80-21B9-4A8D-8066-EC404286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Cierre del módulo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C675B-A36E-49D5-B357-B9FE89A6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BA940-0D55-478F-B5DE-6BC59739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9D53F-A6D7-42DC-98FE-E001D2D4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D9723-7051-4E9B-B784-2D0524AB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91440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53DCB-10CF-47F8-A599-B5F78366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907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DFA85-8E91-44EF-B974-0B2A14AE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700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Reproducible no significa representativo.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F8088-9DC0-4CE7-8F4E-5B63319B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576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D9E3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C9D9E3"/>
                </a:solidFill>
                <a:latin typeface="Nimbus Sans"/>
                <a:ea typeface="Nimbus Sans"/>
                <a:cs typeface="Nimbus Sans"/>
              </a:rPr>
              <a:t>La siguiente prueba debe acercar el caso al sistema real y reducir una incertidumbre concreta.</a:t>
            </a:r>
          </a:p>
        </p:txBody>
      </p:sp>
    </p:spTree>
    <p:extLst>
      <p:ext uri="{BB962C8B-B14F-4D97-AF65-F5344CB8AC3E}">
        <p14:creationId xmlns:p14="http://schemas.microsoft.com/office/powerpoint/2010/main" val="1598735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2026-09-12T17:46:17.6020000Z</dcterms:created>
  <dcterms:modified xsi:type="dcterms:W3CDTF">2026-09-12T17:46:17.6020000Z</dcterms:modified>
</coreProperties>
</file>